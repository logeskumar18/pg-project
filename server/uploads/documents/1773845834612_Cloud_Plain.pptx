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3" r:id="rId16"/>
    <p:sldId id="274" r:id="rId17"/>
    <p:sldId id="275" r:id="rId18"/>
    <p:sldId id="276" r:id="rId19"/>
    <p:sldId id="277" r:id="rId20"/>
    <p:sldId id="278" r:id="rId21"/>
    <p:sldId id="270" r:id="rId22"/>
    <p:sldId id="271" r:id="rId23"/>
    <p:sldId id="272" r:id="rId2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5" d="100"/>
          <a:sy n="105" d="100"/>
        </p:scale>
        <p:origin x="39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719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7155907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41184553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6059219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4781404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4756591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7509350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365444"/>
            <a:ext cx="9144000" cy="796159"/>
          </a:xfrm>
          <a:prstGeom prst="rect">
            <a:avLst/>
          </a:prstGeom>
          <a:noFill/>
          <a:ln/>
        </p:spPr>
        <p:txBody>
          <a:bodyPr wrap="square" rtlCol="0" anchor="ctr"/>
          <a:lstStyle/>
          <a:p>
            <a:pPr marL="0" indent="0" algn="ctr">
              <a:buNone/>
            </a:pPr>
            <a:r>
              <a:rPr lang="en-US" b="1" dirty="0">
                <a:solidFill>
                  <a:srgbClr val="000000"/>
                </a:solidFill>
                <a:latin typeface="Times New Roman" panose="02020603050405020304" pitchFamily="18" charset="0"/>
                <a:ea typeface="Calibri" pitchFamily="34" charset="-122"/>
                <a:cs typeface="Times New Roman" panose="02020603050405020304" pitchFamily="18" charset="0"/>
              </a:rPr>
              <a:t>THIAGARAJAR COLLEGE (AUTONOMOUS), </a:t>
            </a:r>
            <a:r>
              <a:rPr lang="en-US" b="1" dirty="0" smtClean="0">
                <a:solidFill>
                  <a:srgbClr val="000000"/>
                </a:solidFill>
                <a:latin typeface="Times New Roman" panose="02020603050405020304" pitchFamily="18" charset="0"/>
                <a:ea typeface="Calibri" pitchFamily="34" charset="-122"/>
                <a:cs typeface="Times New Roman" panose="02020603050405020304" pitchFamily="18" charset="0"/>
              </a:rPr>
              <a:t>MADURAI</a:t>
            </a:r>
            <a:endParaRPr lang="en-US" dirty="0">
              <a:latin typeface="Times New Roman" panose="02020603050405020304" pitchFamily="18" charset="0"/>
              <a:cs typeface="Times New Roman" panose="02020603050405020304" pitchFamily="18" charset="0"/>
            </a:endParaRPr>
          </a:p>
        </p:txBody>
      </p:sp>
      <p:sp>
        <p:nvSpPr>
          <p:cNvPr id="3" name="Text 1"/>
          <p:cNvSpPr/>
          <p:nvPr/>
        </p:nvSpPr>
        <p:spPr>
          <a:xfrm>
            <a:off x="457200" y="594360"/>
            <a:ext cx="8229600" cy="841248"/>
          </a:xfrm>
          <a:prstGeom prst="rect">
            <a:avLst/>
          </a:prstGeom>
          <a:noFill/>
          <a:ln/>
        </p:spPr>
        <p:txBody>
          <a:bodyPr wrap="square" rtlCol="0" anchor="ctr"/>
          <a:lstStyle/>
          <a:p>
            <a:pPr marL="0" indent="0" algn="ctr">
              <a:buNone/>
            </a:pPr>
            <a:r>
              <a:rPr lang="en-US" b="1" dirty="0">
                <a:solidFill>
                  <a:srgbClr val="000000"/>
                </a:solidFill>
                <a:latin typeface="Times New Roman" panose="02020603050405020304" pitchFamily="18" charset="0"/>
                <a:ea typeface="Calibri" pitchFamily="34" charset="-122"/>
                <a:cs typeface="Times New Roman" panose="02020603050405020304" pitchFamily="18" charset="0"/>
              </a:rPr>
              <a:t>Department of Computer Science - M.Sc</a:t>
            </a:r>
            <a:endParaRPr lang="en-US" dirty="0">
              <a:latin typeface="Times New Roman" panose="02020603050405020304" pitchFamily="18" charset="0"/>
              <a:cs typeface="Times New Roman" panose="02020603050405020304" pitchFamily="18" charset="0"/>
            </a:endParaRPr>
          </a:p>
        </p:txBody>
      </p:sp>
      <p:sp>
        <p:nvSpPr>
          <p:cNvPr id="4" name="Text 2"/>
          <p:cNvSpPr/>
          <p:nvPr/>
        </p:nvSpPr>
        <p:spPr>
          <a:xfrm>
            <a:off x="457200" y="1115568"/>
            <a:ext cx="8229600" cy="429768"/>
          </a:xfrm>
          <a:prstGeom prst="rect">
            <a:avLst/>
          </a:prstGeom>
          <a:noFill/>
          <a:ln/>
        </p:spPr>
        <p:txBody>
          <a:bodyPr wrap="square" rtlCol="0" anchor="ctr"/>
          <a:lstStyle/>
          <a:p>
            <a:pPr marL="0" indent="0" algn="ctr">
              <a:buNone/>
            </a:pPr>
            <a:r>
              <a:rPr lang="en-US" b="1" dirty="0">
                <a:solidFill>
                  <a:srgbClr val="000000"/>
                </a:solidFill>
                <a:latin typeface="Times New Roman" panose="02020603050405020304" pitchFamily="18" charset="0"/>
                <a:ea typeface="Calibri" pitchFamily="34" charset="-122"/>
                <a:cs typeface="Times New Roman" panose="02020603050405020304" pitchFamily="18" charset="0"/>
              </a:rPr>
              <a:t>PCS20PJ41 - Project </a:t>
            </a:r>
            <a:r>
              <a:rPr lang="en-US" b="1" dirty="0" smtClean="0">
                <a:solidFill>
                  <a:srgbClr val="000000"/>
                </a:solidFill>
                <a:latin typeface="Times New Roman" panose="02020603050405020304" pitchFamily="18" charset="0"/>
                <a:ea typeface="Calibri" pitchFamily="34" charset="-122"/>
                <a:cs typeface="Times New Roman" panose="02020603050405020304" pitchFamily="18" charset="0"/>
              </a:rPr>
              <a:t>– Second Review</a:t>
            </a:r>
            <a:endParaRPr lang="en-US" b="1" dirty="0">
              <a:latin typeface="Times New Roman" panose="02020603050405020304" pitchFamily="18" charset="0"/>
              <a:cs typeface="Times New Roman" panose="02020603050405020304" pitchFamily="18" charset="0"/>
            </a:endParaRPr>
          </a:p>
        </p:txBody>
      </p:sp>
      <p:sp>
        <p:nvSpPr>
          <p:cNvPr id="5" name="Text 3"/>
          <p:cNvSpPr/>
          <p:nvPr/>
        </p:nvSpPr>
        <p:spPr>
          <a:xfrm>
            <a:off x="457200" y="1417320"/>
            <a:ext cx="8229600" cy="1920240"/>
          </a:xfrm>
          <a:prstGeom prst="rect">
            <a:avLst/>
          </a:prstGeom>
          <a:noFill/>
          <a:ln/>
        </p:spPr>
        <p:txBody>
          <a:bodyPr wrap="square" rtlCol="0" anchor="ctr"/>
          <a:lstStyle/>
          <a:p>
            <a:pPr marL="0" indent="0" algn="ctr">
              <a:buNone/>
            </a:pPr>
            <a:r>
              <a:rPr lang="en-US" sz="3200" b="1" dirty="0">
                <a:solidFill>
                  <a:srgbClr val="000000"/>
                </a:solidFill>
                <a:latin typeface="Times New Roman" panose="02020603050405020304" pitchFamily="18" charset="0"/>
                <a:ea typeface="Calibri" pitchFamily="34" charset="-122"/>
                <a:cs typeface="Times New Roman" panose="02020603050405020304" pitchFamily="18" charset="0"/>
              </a:rPr>
              <a:t>PRIVACY PROTECTION BASED</a:t>
            </a:r>
            <a:endParaRPr lang="en-US" sz="3200" dirty="0">
              <a:latin typeface="Times New Roman" panose="02020603050405020304" pitchFamily="18" charset="0"/>
              <a:cs typeface="Times New Roman" panose="02020603050405020304" pitchFamily="18" charset="0"/>
            </a:endParaRPr>
          </a:p>
          <a:p>
            <a:pPr marL="0" indent="0" algn="ctr">
              <a:buNone/>
            </a:pPr>
            <a:r>
              <a:rPr lang="en-US" sz="3200" b="1" dirty="0">
                <a:solidFill>
                  <a:srgbClr val="000000"/>
                </a:solidFill>
                <a:latin typeface="Times New Roman" panose="02020603050405020304" pitchFamily="18" charset="0"/>
                <a:ea typeface="Calibri" pitchFamily="34" charset="-122"/>
                <a:cs typeface="Times New Roman" panose="02020603050405020304" pitchFamily="18" charset="0"/>
              </a:rPr>
              <a:t>ACCESS CONTROL SCHEME</a:t>
            </a:r>
            <a:endParaRPr lang="en-US" sz="3200" dirty="0">
              <a:latin typeface="Times New Roman" panose="02020603050405020304" pitchFamily="18" charset="0"/>
              <a:cs typeface="Times New Roman" panose="02020603050405020304" pitchFamily="18" charset="0"/>
            </a:endParaRPr>
          </a:p>
          <a:p>
            <a:pPr marL="0" indent="0" algn="ctr">
              <a:buNone/>
            </a:pPr>
            <a:r>
              <a:rPr lang="en-US" sz="3200" b="1" dirty="0">
                <a:solidFill>
                  <a:srgbClr val="000000"/>
                </a:solidFill>
                <a:latin typeface="Times New Roman" panose="02020603050405020304" pitchFamily="18" charset="0"/>
                <a:ea typeface="Calibri" pitchFamily="34" charset="-122"/>
                <a:cs typeface="Times New Roman" panose="02020603050405020304" pitchFamily="18" charset="0"/>
              </a:rPr>
              <a:t>IN CLOUD BASED SERVICES</a:t>
            </a:r>
            <a:endParaRPr lang="en-US" sz="3200" dirty="0">
              <a:latin typeface="Times New Roman" panose="02020603050405020304" pitchFamily="18" charset="0"/>
              <a:cs typeface="Times New Roman" panose="02020603050405020304" pitchFamily="18" charset="0"/>
            </a:endParaRPr>
          </a:p>
        </p:txBody>
      </p:sp>
      <p:sp>
        <p:nvSpPr>
          <p:cNvPr id="6" name="Text 4"/>
          <p:cNvSpPr/>
          <p:nvPr/>
        </p:nvSpPr>
        <p:spPr>
          <a:xfrm>
            <a:off x="834190" y="3474720"/>
            <a:ext cx="3465094" cy="256032"/>
          </a:xfrm>
          <a:prstGeom prst="rect">
            <a:avLst/>
          </a:prstGeom>
          <a:noFill/>
          <a:ln/>
        </p:spPr>
        <p:txBody>
          <a:bodyPr wrap="square" rtlCol="0" anchor="ctr"/>
          <a:lstStyle/>
          <a:p>
            <a:pPr marL="0" indent="0">
              <a:buNone/>
            </a:pPr>
            <a:r>
              <a:rPr lang="en-US" b="1" dirty="0">
                <a:solidFill>
                  <a:srgbClr val="000000"/>
                </a:solidFill>
                <a:latin typeface="Times New Roman" panose="02020603050405020304" pitchFamily="18" charset="0"/>
                <a:ea typeface="Calibri" pitchFamily="34" charset="-122"/>
                <a:cs typeface="Times New Roman" panose="02020603050405020304" pitchFamily="18" charset="0"/>
              </a:rPr>
              <a:t>SUBMITTED BY :</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457200" y="3749040"/>
            <a:ext cx="3657600" cy="822960"/>
          </a:xfrm>
          <a:prstGeom prst="rect">
            <a:avLst/>
          </a:prstGeom>
          <a:noFill/>
          <a:ln/>
        </p:spPr>
        <p:txBody>
          <a:bodyPr wrap="square" rtlCol="0" anchor="ctr"/>
          <a:lstStyle/>
          <a:p>
            <a:pPr marL="0" indent="0">
              <a:buNone/>
            </a:pPr>
            <a:r>
              <a:rPr lang="en-US" b="1" dirty="0">
                <a:solidFill>
                  <a:srgbClr val="000000"/>
                </a:solidFill>
                <a:latin typeface="Times New Roman" panose="02020603050405020304" pitchFamily="18" charset="0"/>
                <a:ea typeface="Calibri" pitchFamily="34" charset="-122"/>
                <a:cs typeface="Times New Roman" panose="02020603050405020304" pitchFamily="18" charset="0"/>
              </a:rPr>
              <a:t>MANIBALA R - (24SPCS05)</a:t>
            </a:r>
            <a:endParaRPr lang="en-US" b="1" dirty="0">
              <a:latin typeface="Times New Roman" panose="02020603050405020304" pitchFamily="18" charset="0"/>
              <a:cs typeface="Times New Roman" panose="02020603050405020304" pitchFamily="18" charset="0"/>
            </a:endParaRPr>
          </a:p>
          <a:p>
            <a:pPr marL="0" indent="0">
              <a:buNone/>
            </a:pPr>
            <a:r>
              <a:rPr lang="en-US" b="1" dirty="0">
                <a:solidFill>
                  <a:srgbClr val="000000"/>
                </a:solidFill>
                <a:latin typeface="Times New Roman" panose="02020603050405020304" pitchFamily="18" charset="0"/>
                <a:ea typeface="Calibri" pitchFamily="34" charset="-122"/>
                <a:cs typeface="Times New Roman" panose="02020603050405020304" pitchFamily="18" charset="0"/>
              </a:rPr>
              <a:t>II M.Sc Computer Science</a:t>
            </a:r>
            <a:endParaRPr lang="en-US" b="1" dirty="0">
              <a:latin typeface="Times New Roman" panose="02020603050405020304" pitchFamily="18" charset="0"/>
              <a:cs typeface="Times New Roman" panose="02020603050405020304" pitchFamily="18" charset="0"/>
            </a:endParaRPr>
          </a:p>
          <a:p>
            <a:pPr marL="0" indent="0">
              <a:buNone/>
            </a:pPr>
            <a:r>
              <a:rPr lang="en-US" b="1" dirty="0">
                <a:solidFill>
                  <a:srgbClr val="000000"/>
                </a:solidFill>
                <a:latin typeface="Times New Roman" panose="02020603050405020304" pitchFamily="18" charset="0"/>
                <a:ea typeface="Calibri" pitchFamily="34" charset="-122"/>
                <a:cs typeface="Times New Roman" panose="02020603050405020304" pitchFamily="18" charset="0"/>
              </a:rPr>
              <a:t>Thiagarajar College, Madurai</a:t>
            </a:r>
            <a:endParaRPr lang="en-US" b="1" dirty="0">
              <a:latin typeface="Times New Roman" panose="02020603050405020304" pitchFamily="18" charset="0"/>
              <a:cs typeface="Times New Roman" panose="02020603050405020304" pitchFamily="18" charset="0"/>
            </a:endParaRPr>
          </a:p>
        </p:txBody>
      </p:sp>
      <p:sp>
        <p:nvSpPr>
          <p:cNvPr id="8" name="Text 6"/>
          <p:cNvSpPr/>
          <p:nvPr/>
        </p:nvSpPr>
        <p:spPr>
          <a:xfrm>
            <a:off x="5975684" y="3280611"/>
            <a:ext cx="2711115" cy="450141"/>
          </a:xfrm>
          <a:prstGeom prst="rect">
            <a:avLst/>
          </a:prstGeom>
          <a:noFill/>
          <a:ln/>
        </p:spPr>
        <p:txBody>
          <a:bodyPr wrap="square" rtlCol="0" anchor="ctr"/>
          <a:lstStyle/>
          <a:p>
            <a:pPr marL="0" indent="0">
              <a:buNone/>
            </a:pPr>
            <a:r>
              <a:rPr lang="en-US" b="1" dirty="0">
                <a:solidFill>
                  <a:srgbClr val="000000"/>
                </a:solidFill>
                <a:latin typeface="Times New Roman" panose="02020603050405020304" pitchFamily="18" charset="0"/>
                <a:ea typeface="Calibri" pitchFamily="34" charset="-122"/>
                <a:cs typeface="Times New Roman" panose="02020603050405020304" pitchFamily="18" charset="0"/>
              </a:rPr>
              <a:t>GUIDED BY :</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5029200" y="3777750"/>
            <a:ext cx="3657600" cy="822960"/>
          </a:xfrm>
          <a:prstGeom prst="rect">
            <a:avLst/>
          </a:prstGeom>
          <a:noFill/>
          <a:ln/>
        </p:spPr>
        <p:txBody>
          <a:bodyPr wrap="square" rtlCol="0" anchor="ctr"/>
          <a:lstStyle/>
          <a:p>
            <a:pPr marL="0" indent="0" algn="ctr">
              <a:buNone/>
            </a:pPr>
            <a:r>
              <a:rPr lang="en-US" b="1" dirty="0">
                <a:solidFill>
                  <a:srgbClr val="000000"/>
                </a:solidFill>
                <a:latin typeface="Times New Roman" panose="02020603050405020304" pitchFamily="18" charset="0"/>
                <a:ea typeface="Calibri" pitchFamily="34" charset="-122"/>
                <a:cs typeface="Times New Roman" panose="02020603050405020304" pitchFamily="18" charset="0"/>
              </a:rPr>
              <a:t>Dr. P. MANICKAM., Ph.D</a:t>
            </a:r>
            <a:endParaRPr lang="en-US" b="1" dirty="0">
              <a:latin typeface="Times New Roman" panose="02020603050405020304" pitchFamily="18" charset="0"/>
              <a:cs typeface="Times New Roman" panose="02020603050405020304" pitchFamily="18" charset="0"/>
            </a:endParaRPr>
          </a:p>
          <a:p>
            <a:pPr marL="0" indent="0" algn="ctr">
              <a:buNone/>
            </a:pPr>
            <a:r>
              <a:rPr lang="en-US" b="1" dirty="0">
                <a:solidFill>
                  <a:srgbClr val="000000"/>
                </a:solidFill>
                <a:latin typeface="Times New Roman" panose="02020603050405020304" pitchFamily="18" charset="0"/>
                <a:ea typeface="Calibri" pitchFamily="34" charset="-122"/>
                <a:cs typeface="Times New Roman" panose="02020603050405020304" pitchFamily="18" charset="0"/>
              </a:rPr>
              <a:t>Assistant Professor</a:t>
            </a:r>
            <a:endParaRPr lang="en-US" b="1" dirty="0">
              <a:latin typeface="Times New Roman" panose="02020603050405020304" pitchFamily="18" charset="0"/>
              <a:cs typeface="Times New Roman" panose="02020603050405020304" pitchFamily="18" charset="0"/>
            </a:endParaRPr>
          </a:p>
          <a:p>
            <a:pPr marL="0" indent="0" algn="ctr">
              <a:buNone/>
            </a:pPr>
            <a:r>
              <a:rPr lang="en-US" b="1" dirty="0">
                <a:solidFill>
                  <a:srgbClr val="000000"/>
                </a:solidFill>
                <a:latin typeface="Times New Roman" panose="02020603050405020304" pitchFamily="18" charset="0"/>
                <a:ea typeface="Calibri" pitchFamily="34" charset="-122"/>
                <a:cs typeface="Times New Roman" panose="02020603050405020304" pitchFamily="18" charset="0"/>
              </a:rPr>
              <a:t>Dept. of Computer Science, Thiagarajar College</a:t>
            </a:r>
            <a:endParaRPr lang="en-US" b="1" dirty="0">
              <a:latin typeface="Times New Roman" panose="02020603050405020304" pitchFamily="18" charset="0"/>
              <a:cs typeface="Times New Roman" panose="02020603050405020304" pitchFamily="18" charset="0"/>
            </a:endParaRPr>
          </a:p>
        </p:txBody>
      </p:sp>
      <p:sp>
        <p:nvSpPr>
          <p:cNvPr id="10" name="Text 8"/>
          <p:cNvSpPr/>
          <p:nvPr/>
        </p:nvSpPr>
        <p:spPr>
          <a:xfrm>
            <a:off x="274320" y="4873752"/>
            <a:ext cx="1371600" cy="201168"/>
          </a:xfrm>
          <a:prstGeom prst="rect">
            <a:avLst/>
          </a:prstGeom>
          <a:noFill/>
          <a:ln/>
        </p:spPr>
        <p:txBody>
          <a:bodyPr wrap="square" rtlCol="0" anchor="ctr"/>
          <a:lstStyle/>
          <a:p>
            <a:r>
              <a:rPr lang="en-US" sz="900" dirty="0">
                <a:solidFill>
                  <a:schemeClr val="bg1">
                    <a:lumMod val="50000"/>
                  </a:schemeClr>
                </a:solidFill>
                <a:latin typeface="Calibri" pitchFamily="34" charset="0"/>
                <a:ea typeface="Calibri" pitchFamily="34" charset="-122"/>
                <a:cs typeface="Calibri" pitchFamily="34" charset="-120"/>
              </a:rPr>
              <a:t>11/03/2026</a:t>
            </a:r>
            <a:endParaRPr lang="en-US" sz="900" dirty="0">
              <a:solidFill>
                <a:schemeClr val="bg1">
                  <a:lumMod val="50000"/>
                </a:schemeClr>
              </a:solidFill>
            </a:endParaRPr>
          </a:p>
        </p:txBody>
      </p:sp>
      <p:sp>
        <p:nvSpPr>
          <p:cNvPr id="11" name="Text 9"/>
          <p:cNvSpPr/>
          <p:nvPr/>
        </p:nvSpPr>
        <p:spPr>
          <a:xfrm>
            <a:off x="1828800" y="4873752"/>
            <a:ext cx="5486400" cy="201168"/>
          </a:xfrm>
          <a:prstGeom prst="rect">
            <a:avLst/>
          </a:prstGeom>
          <a:noFill/>
          <a:ln/>
        </p:spPr>
        <p:txBody>
          <a:bodyPr wrap="square" rtlCol="0" anchor="ctr"/>
          <a:lstStyle/>
          <a:p>
            <a:pPr lvl="0" algn="ctr"/>
            <a:r>
              <a:rPr lang="en-US" sz="900" dirty="0">
                <a:solidFill>
                  <a:schemeClr val="bg1">
                    <a:lumMod val="50000"/>
                  </a:schemeClr>
                </a:solidFill>
              </a:rPr>
              <a:t>PCS24PJ41 Project - Second Review Presentation 2025- 2026</a:t>
            </a:r>
          </a:p>
        </p:txBody>
      </p:sp>
      <p:sp>
        <p:nvSpPr>
          <p:cNvPr id="12" name="Text 10"/>
          <p:cNvSpPr/>
          <p:nvPr/>
        </p:nvSpPr>
        <p:spPr>
          <a:xfrm>
            <a:off x="8686800" y="4873752"/>
            <a:ext cx="365760" cy="201168"/>
          </a:xfrm>
          <a:prstGeom prst="rect">
            <a:avLst/>
          </a:prstGeom>
          <a:noFill/>
          <a:ln/>
        </p:spPr>
        <p:txBody>
          <a:bodyPr wrap="square" rtlCol="0" anchor="ctr"/>
          <a:lstStyle/>
          <a:p>
            <a:pPr marL="0" indent="0" algn="r">
              <a:buNone/>
            </a:pPr>
            <a:r>
              <a:rPr lang="en-US" sz="900" dirty="0">
                <a:solidFill>
                  <a:srgbClr val="000000"/>
                </a:solidFill>
                <a:latin typeface="Calibri" pitchFamily="34" charset="0"/>
                <a:ea typeface="Calibri" pitchFamily="34" charset="-122"/>
                <a:cs typeface="Calibri" pitchFamily="34" charset="-120"/>
              </a:rPr>
              <a:t>1</a:t>
            </a:r>
            <a:endParaRPr lang="en-US" sz="900" dirty="0"/>
          </a:p>
        </p:txBody>
      </p:sp>
      <p:pic>
        <p:nvPicPr>
          <p:cNvPr id="13" name="Google Shape;95;p1" descr="Thiagarajar College (@ThiagarajarArts) | Twitter"/>
          <p:cNvPicPr preferRelativeResize="0"/>
          <p:nvPr/>
        </p:nvPicPr>
        <p:blipFill rotWithShape="1">
          <a:blip r:embed="rId3">
            <a:alphaModFix/>
          </a:blip>
          <a:srcRect/>
          <a:stretch/>
        </p:blipFill>
        <p:spPr>
          <a:xfrm>
            <a:off x="4114800" y="68580"/>
            <a:ext cx="520262" cy="507492"/>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441434"/>
            <a:ext cx="8412480" cy="564406"/>
          </a:xfrm>
          <a:prstGeom prst="rect">
            <a:avLst/>
          </a:prstGeom>
          <a:noFill/>
          <a:ln/>
        </p:spPr>
        <p:txBody>
          <a:bodyPr wrap="square" rtlCol="0" anchor="ctr"/>
          <a:lstStyle/>
          <a:p>
            <a:pPr marL="0" indent="0">
              <a:buNone/>
            </a:pPr>
            <a:r>
              <a:rPr lang="en-US" sz="2800" b="1" u="sng" dirty="0">
                <a:solidFill>
                  <a:srgbClr val="000000"/>
                </a:solidFill>
                <a:latin typeface="Times New Roman" panose="02020603050405020304" pitchFamily="18" charset="0"/>
                <a:ea typeface="Calibri" pitchFamily="34" charset="-122"/>
                <a:cs typeface="Times New Roman" panose="02020603050405020304" pitchFamily="18" charset="0"/>
              </a:rPr>
              <a:t>OVERVIEW</a:t>
            </a:r>
            <a:endParaRPr lang="en-US" sz="2800" dirty="0">
              <a:latin typeface="Times New Roman" panose="02020603050405020304" pitchFamily="18" charset="0"/>
              <a:cs typeface="Times New Roman" panose="02020603050405020304" pitchFamily="18" charset="0"/>
            </a:endParaRPr>
          </a:p>
        </p:txBody>
      </p:sp>
      <p:sp>
        <p:nvSpPr>
          <p:cNvPr id="3" name="Text 1"/>
          <p:cNvSpPr/>
          <p:nvPr/>
        </p:nvSpPr>
        <p:spPr>
          <a:xfrm>
            <a:off x="274320" y="4873752"/>
            <a:ext cx="1371600" cy="201168"/>
          </a:xfrm>
          <a:prstGeom prst="rect">
            <a:avLst/>
          </a:prstGeom>
          <a:noFill/>
          <a:ln/>
        </p:spPr>
        <p:txBody>
          <a:bodyPr wrap="square" rtlCol="0" anchor="ctr"/>
          <a:lstStyle/>
          <a:p>
            <a:r>
              <a:rPr lang="en-US" sz="900" dirty="0">
                <a:solidFill>
                  <a:schemeClr val="bg1">
                    <a:lumMod val="50000"/>
                  </a:schemeClr>
                </a:solidFill>
                <a:latin typeface="Calibri" pitchFamily="34" charset="0"/>
                <a:ea typeface="Calibri" pitchFamily="34" charset="-122"/>
                <a:cs typeface="Calibri" pitchFamily="34" charset="-120"/>
              </a:rPr>
              <a:t>11/03/2026</a:t>
            </a:r>
            <a:endParaRPr lang="en-US" sz="900" dirty="0">
              <a:solidFill>
                <a:schemeClr val="bg1">
                  <a:lumMod val="50000"/>
                </a:schemeClr>
              </a:solidFill>
            </a:endParaRPr>
          </a:p>
        </p:txBody>
      </p:sp>
      <p:sp>
        <p:nvSpPr>
          <p:cNvPr id="4" name="Text 2"/>
          <p:cNvSpPr/>
          <p:nvPr/>
        </p:nvSpPr>
        <p:spPr>
          <a:xfrm>
            <a:off x="1828800" y="4873752"/>
            <a:ext cx="5486400" cy="201168"/>
          </a:xfrm>
          <a:prstGeom prst="rect">
            <a:avLst/>
          </a:prstGeom>
          <a:noFill/>
          <a:ln/>
        </p:spPr>
        <p:txBody>
          <a:bodyPr wrap="square" rtlCol="0" anchor="ctr"/>
          <a:lstStyle/>
          <a:p>
            <a:pPr lvl="0" algn="ctr"/>
            <a:r>
              <a:rPr lang="en-US" sz="900" dirty="0">
                <a:solidFill>
                  <a:schemeClr val="bg1">
                    <a:lumMod val="50000"/>
                  </a:schemeClr>
                </a:solidFill>
              </a:rPr>
              <a:t>PCS24PJ41 Project - Second Review Presentation 2025- 2026</a:t>
            </a:r>
          </a:p>
        </p:txBody>
      </p:sp>
      <p:sp>
        <p:nvSpPr>
          <p:cNvPr id="5" name="Text 3"/>
          <p:cNvSpPr/>
          <p:nvPr/>
        </p:nvSpPr>
        <p:spPr>
          <a:xfrm>
            <a:off x="8686800" y="4873752"/>
            <a:ext cx="365760" cy="201168"/>
          </a:xfrm>
          <a:prstGeom prst="rect">
            <a:avLst/>
          </a:prstGeom>
          <a:noFill/>
          <a:ln/>
        </p:spPr>
        <p:txBody>
          <a:bodyPr wrap="square" rtlCol="0" anchor="ctr"/>
          <a:lstStyle/>
          <a:p>
            <a:pPr marL="0" indent="0" algn="r">
              <a:buNone/>
            </a:pPr>
            <a:r>
              <a:rPr lang="en-US" sz="900" dirty="0">
                <a:solidFill>
                  <a:srgbClr val="000000"/>
                </a:solidFill>
                <a:latin typeface="Calibri" pitchFamily="34" charset="0"/>
                <a:ea typeface="Calibri" pitchFamily="34" charset="-122"/>
                <a:cs typeface="Calibri" pitchFamily="34" charset="-120"/>
              </a:rPr>
              <a:t>2</a:t>
            </a:r>
            <a:endParaRPr lang="en-US" sz="900" dirty="0"/>
          </a:p>
        </p:txBody>
      </p:sp>
      <p:sp>
        <p:nvSpPr>
          <p:cNvPr id="6" name="Text 4"/>
          <p:cNvSpPr/>
          <p:nvPr/>
        </p:nvSpPr>
        <p:spPr>
          <a:xfrm>
            <a:off x="548640" y="1005840"/>
            <a:ext cx="8229600" cy="3657600"/>
          </a:xfrm>
          <a:prstGeom prst="rect">
            <a:avLst/>
          </a:prstGeom>
          <a:noFill/>
          <a:ln/>
        </p:spPr>
        <p:txBody>
          <a:bodyPr wrap="square" rtlCol="0" anchor="t"/>
          <a:lstStyle/>
          <a:p>
            <a:pPr marL="342900" indent="-342900">
              <a:spcAft>
                <a:spcPts val="1400"/>
              </a:spcAft>
              <a:buSzPct val="100000"/>
              <a:buChar char="•"/>
            </a:pPr>
            <a:r>
              <a:rPr lang="en-US" sz="2000" dirty="0">
                <a:solidFill>
                  <a:srgbClr val="000000"/>
                </a:solidFill>
                <a:latin typeface="Times New Roman" panose="02020603050405020304" pitchFamily="18" charset="0"/>
                <a:ea typeface="Calibri" pitchFamily="34" charset="-122"/>
                <a:cs typeface="Times New Roman" panose="02020603050405020304" pitchFamily="18" charset="0"/>
              </a:rPr>
              <a:t>Abstract</a:t>
            </a:r>
            <a:endParaRPr lang="en-US" sz="2000" dirty="0">
              <a:latin typeface="Times New Roman" panose="02020603050405020304" pitchFamily="18" charset="0"/>
              <a:cs typeface="Times New Roman" panose="02020603050405020304" pitchFamily="18" charset="0"/>
            </a:endParaRPr>
          </a:p>
          <a:p>
            <a:pPr marL="342900" indent="-342900">
              <a:spcAft>
                <a:spcPts val="1400"/>
              </a:spcAft>
              <a:buSzPct val="100000"/>
              <a:buChar char="•"/>
            </a:pPr>
            <a:r>
              <a:rPr lang="en-US" sz="2000" dirty="0">
                <a:solidFill>
                  <a:srgbClr val="000000"/>
                </a:solidFill>
                <a:latin typeface="Times New Roman" panose="02020603050405020304" pitchFamily="18" charset="0"/>
                <a:ea typeface="Calibri" pitchFamily="34" charset="-122"/>
                <a:cs typeface="Times New Roman" panose="02020603050405020304" pitchFamily="18" charset="0"/>
              </a:rPr>
              <a:t>Existing System</a:t>
            </a:r>
            <a:endParaRPr lang="en-US" sz="2000" dirty="0">
              <a:latin typeface="Times New Roman" panose="02020603050405020304" pitchFamily="18" charset="0"/>
              <a:cs typeface="Times New Roman" panose="02020603050405020304" pitchFamily="18" charset="0"/>
            </a:endParaRPr>
          </a:p>
          <a:p>
            <a:pPr marL="342900" indent="-342900">
              <a:spcAft>
                <a:spcPts val="1400"/>
              </a:spcAft>
              <a:buSzPct val="100000"/>
              <a:buChar char="•"/>
            </a:pPr>
            <a:r>
              <a:rPr lang="en-US" sz="2000" dirty="0">
                <a:solidFill>
                  <a:srgbClr val="000000"/>
                </a:solidFill>
                <a:latin typeface="Times New Roman" panose="02020603050405020304" pitchFamily="18" charset="0"/>
                <a:ea typeface="Calibri" pitchFamily="34" charset="-122"/>
                <a:cs typeface="Times New Roman" panose="02020603050405020304" pitchFamily="18" charset="0"/>
              </a:rPr>
              <a:t>Proposed System</a:t>
            </a:r>
            <a:endParaRPr lang="en-US" sz="2000" dirty="0">
              <a:latin typeface="Times New Roman" panose="02020603050405020304" pitchFamily="18" charset="0"/>
              <a:cs typeface="Times New Roman" panose="02020603050405020304" pitchFamily="18" charset="0"/>
            </a:endParaRPr>
          </a:p>
          <a:p>
            <a:pPr marL="342900" indent="-342900">
              <a:spcAft>
                <a:spcPts val="1400"/>
              </a:spcAft>
              <a:buSzPct val="100000"/>
              <a:buChar char="•"/>
            </a:pPr>
            <a:r>
              <a:rPr lang="en-US" sz="2000" dirty="0">
                <a:solidFill>
                  <a:srgbClr val="000000"/>
                </a:solidFill>
                <a:latin typeface="Times New Roman" panose="02020603050405020304" pitchFamily="18" charset="0"/>
                <a:ea typeface="Calibri" pitchFamily="34" charset="-122"/>
                <a:cs typeface="Times New Roman" panose="02020603050405020304" pitchFamily="18" charset="0"/>
              </a:rPr>
              <a:t>Proposed System Architecture</a:t>
            </a:r>
            <a:endParaRPr lang="en-US" sz="2000" dirty="0">
              <a:latin typeface="Times New Roman" panose="02020603050405020304" pitchFamily="18" charset="0"/>
              <a:cs typeface="Times New Roman" panose="02020603050405020304" pitchFamily="18" charset="0"/>
            </a:endParaRPr>
          </a:p>
          <a:p>
            <a:pPr marL="342900" indent="-342900">
              <a:spcAft>
                <a:spcPts val="1400"/>
              </a:spcAft>
              <a:buSzPct val="100000"/>
              <a:buChar char="•"/>
            </a:pPr>
            <a:r>
              <a:rPr lang="en-US" sz="2000" dirty="0">
                <a:solidFill>
                  <a:srgbClr val="000000"/>
                </a:solidFill>
                <a:latin typeface="Times New Roman" panose="02020603050405020304" pitchFamily="18" charset="0"/>
                <a:ea typeface="Calibri" pitchFamily="34" charset="-122"/>
                <a:cs typeface="Times New Roman" panose="02020603050405020304" pitchFamily="18" charset="0"/>
              </a:rPr>
              <a:t>List of Modules</a:t>
            </a:r>
            <a:endParaRPr lang="en-US" sz="2000" dirty="0">
              <a:latin typeface="Times New Roman" panose="02020603050405020304" pitchFamily="18" charset="0"/>
              <a:cs typeface="Times New Roman" panose="02020603050405020304" pitchFamily="18" charset="0"/>
            </a:endParaRPr>
          </a:p>
          <a:p>
            <a:pPr marL="342900" indent="-342900">
              <a:spcAft>
                <a:spcPts val="1400"/>
              </a:spcAft>
              <a:buSzPct val="100000"/>
              <a:buChar char="•"/>
            </a:pPr>
            <a:r>
              <a:rPr lang="en-US" sz="2000" dirty="0">
                <a:solidFill>
                  <a:srgbClr val="000000"/>
                </a:solidFill>
                <a:latin typeface="Times New Roman" panose="02020603050405020304" pitchFamily="18" charset="0"/>
                <a:ea typeface="Calibri" pitchFamily="34" charset="-122"/>
                <a:cs typeface="Times New Roman" panose="02020603050405020304" pitchFamily="18" charset="0"/>
              </a:rPr>
              <a:t>Result Comparison / Analysis</a:t>
            </a:r>
            <a:endParaRPr lang="en-US" sz="2000" dirty="0">
              <a:latin typeface="Times New Roman" panose="02020603050405020304" pitchFamily="18" charset="0"/>
              <a:cs typeface="Times New Roman" panose="02020603050405020304" pitchFamily="18" charset="0"/>
            </a:endParaRPr>
          </a:p>
          <a:p>
            <a:pPr marL="342900" indent="-342900">
              <a:spcAft>
                <a:spcPts val="1400"/>
              </a:spcAft>
              <a:buSzPct val="100000"/>
              <a:buChar char="•"/>
            </a:pPr>
            <a:r>
              <a:rPr lang="en-US" sz="2000" dirty="0">
                <a:solidFill>
                  <a:srgbClr val="000000"/>
                </a:solidFill>
                <a:latin typeface="Times New Roman" panose="02020603050405020304" pitchFamily="18" charset="0"/>
                <a:ea typeface="Calibri" pitchFamily="34" charset="-122"/>
                <a:cs typeface="Times New Roman" panose="02020603050405020304" pitchFamily="18" charset="0"/>
              </a:rPr>
              <a:t>Conclusion</a:t>
            </a:r>
            <a:endParaRPr lang="en-US" sz="2000" dirty="0">
              <a:latin typeface="Times New Roman" panose="02020603050405020304" pitchFamily="18" charset="0"/>
              <a:cs typeface="Times New Roman" panose="02020603050405020304" pitchFamily="18" charset="0"/>
            </a:endParaRPr>
          </a:p>
        </p:txBody>
      </p:sp>
      <p:pic>
        <p:nvPicPr>
          <p:cNvPr id="7" name="Google Shape;95;p1" descr="Thiagarajar College (@ThiagarajarArts) | Twitter"/>
          <p:cNvPicPr preferRelativeResize="0"/>
          <p:nvPr/>
        </p:nvPicPr>
        <p:blipFill rotWithShape="1">
          <a:blip r:embed="rId3">
            <a:alphaModFix/>
          </a:blip>
          <a:srcRect/>
          <a:stretch/>
        </p:blipFill>
        <p:spPr>
          <a:xfrm>
            <a:off x="4114800" y="68580"/>
            <a:ext cx="520262" cy="451682"/>
          </a:xfrm>
          <a:prstGeom prst="rect">
            <a:avLst/>
          </a:prstGeom>
          <a:noFill/>
          <a:ln>
            <a:noFill/>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83779"/>
            <a:ext cx="8412480" cy="804042"/>
          </a:xfrm>
          <a:prstGeom prst="rect">
            <a:avLst/>
          </a:prstGeom>
          <a:noFill/>
          <a:ln/>
        </p:spPr>
        <p:txBody>
          <a:bodyPr wrap="square" rtlCol="0" anchor="ctr"/>
          <a:lstStyle/>
          <a:p>
            <a:pPr marL="0" indent="0">
              <a:buNone/>
            </a:pPr>
            <a:r>
              <a:rPr lang="en-US" sz="2800" b="1" u="sng" dirty="0">
                <a:solidFill>
                  <a:srgbClr val="000000"/>
                </a:solidFill>
                <a:latin typeface="Times New Roman" panose="02020603050405020304" pitchFamily="18" charset="0"/>
                <a:ea typeface="Calibri" pitchFamily="34" charset="-122"/>
                <a:cs typeface="Times New Roman" panose="02020603050405020304" pitchFamily="18" charset="0"/>
              </a:rPr>
              <a:t>ABSTRACT</a:t>
            </a:r>
            <a:endParaRPr lang="en-US" sz="2800" dirty="0">
              <a:latin typeface="Times New Roman" panose="02020603050405020304" pitchFamily="18" charset="0"/>
              <a:cs typeface="Times New Roman" panose="02020603050405020304" pitchFamily="18" charset="0"/>
            </a:endParaRPr>
          </a:p>
        </p:txBody>
      </p:sp>
      <p:sp>
        <p:nvSpPr>
          <p:cNvPr id="3" name="Text 1"/>
          <p:cNvSpPr/>
          <p:nvPr/>
        </p:nvSpPr>
        <p:spPr>
          <a:xfrm>
            <a:off x="274320" y="4873752"/>
            <a:ext cx="1371600" cy="201168"/>
          </a:xfrm>
          <a:prstGeom prst="rect">
            <a:avLst/>
          </a:prstGeom>
          <a:noFill/>
          <a:ln/>
        </p:spPr>
        <p:txBody>
          <a:bodyPr wrap="square" rtlCol="0" anchor="ctr"/>
          <a:lstStyle/>
          <a:p>
            <a:r>
              <a:rPr lang="en-US" sz="900" dirty="0">
                <a:solidFill>
                  <a:schemeClr val="bg1">
                    <a:lumMod val="50000"/>
                  </a:schemeClr>
                </a:solidFill>
                <a:latin typeface="Calibri" pitchFamily="34" charset="0"/>
                <a:ea typeface="Calibri" pitchFamily="34" charset="-122"/>
                <a:cs typeface="Calibri" pitchFamily="34" charset="-120"/>
              </a:rPr>
              <a:t>11/03/2026</a:t>
            </a:r>
            <a:endParaRPr lang="en-US" sz="900" dirty="0">
              <a:solidFill>
                <a:schemeClr val="bg1">
                  <a:lumMod val="50000"/>
                </a:schemeClr>
              </a:solidFill>
            </a:endParaRPr>
          </a:p>
        </p:txBody>
      </p:sp>
      <p:sp>
        <p:nvSpPr>
          <p:cNvPr id="4" name="Text 2"/>
          <p:cNvSpPr/>
          <p:nvPr/>
        </p:nvSpPr>
        <p:spPr>
          <a:xfrm>
            <a:off x="1828800" y="4873752"/>
            <a:ext cx="5486400" cy="201168"/>
          </a:xfrm>
          <a:prstGeom prst="rect">
            <a:avLst/>
          </a:prstGeom>
          <a:noFill/>
          <a:ln/>
        </p:spPr>
        <p:txBody>
          <a:bodyPr wrap="square" rtlCol="0" anchor="ctr"/>
          <a:lstStyle/>
          <a:p>
            <a:pPr lvl="0" algn="ctr"/>
            <a:r>
              <a:rPr lang="en-US" sz="900" dirty="0">
                <a:solidFill>
                  <a:schemeClr val="bg1">
                    <a:lumMod val="50000"/>
                  </a:schemeClr>
                </a:solidFill>
              </a:rPr>
              <a:t>PCS24PJ41 Project - Second Review Presentation 2025- 2026</a:t>
            </a:r>
          </a:p>
        </p:txBody>
      </p:sp>
      <p:sp>
        <p:nvSpPr>
          <p:cNvPr id="5" name="Text 3"/>
          <p:cNvSpPr/>
          <p:nvPr/>
        </p:nvSpPr>
        <p:spPr>
          <a:xfrm>
            <a:off x="8686800" y="4873752"/>
            <a:ext cx="365760" cy="201168"/>
          </a:xfrm>
          <a:prstGeom prst="rect">
            <a:avLst/>
          </a:prstGeom>
          <a:noFill/>
          <a:ln/>
        </p:spPr>
        <p:txBody>
          <a:bodyPr wrap="square" rtlCol="0" anchor="ctr"/>
          <a:lstStyle/>
          <a:p>
            <a:pPr marL="0" indent="0" algn="r">
              <a:buNone/>
            </a:pPr>
            <a:r>
              <a:rPr lang="en-US" sz="900" dirty="0">
                <a:solidFill>
                  <a:srgbClr val="000000"/>
                </a:solidFill>
                <a:latin typeface="Calibri" pitchFamily="34" charset="0"/>
                <a:ea typeface="Calibri" pitchFamily="34" charset="-122"/>
                <a:cs typeface="Calibri" pitchFamily="34" charset="-120"/>
              </a:rPr>
              <a:t>3</a:t>
            </a:r>
            <a:endParaRPr lang="en-US" sz="900" dirty="0"/>
          </a:p>
        </p:txBody>
      </p:sp>
      <p:sp>
        <p:nvSpPr>
          <p:cNvPr id="6" name="Text 4"/>
          <p:cNvSpPr/>
          <p:nvPr/>
        </p:nvSpPr>
        <p:spPr>
          <a:xfrm>
            <a:off x="457200" y="960120"/>
            <a:ext cx="8229600" cy="3749040"/>
          </a:xfrm>
          <a:prstGeom prst="rect">
            <a:avLst/>
          </a:prstGeom>
          <a:noFill/>
          <a:ln/>
        </p:spPr>
        <p:txBody>
          <a:bodyPr wrap="square" rtlCol="0" anchor="t"/>
          <a:lstStyle/>
          <a:p>
            <a:pPr marL="0" indent="0" algn="just">
              <a:buNone/>
            </a:pPr>
            <a:r>
              <a:rPr lang="en-US" sz="1500" dirty="0">
                <a:solidFill>
                  <a:srgbClr val="000000"/>
                </a:solidFill>
                <a:latin typeface="Times New Roman" panose="02020603050405020304" pitchFamily="18" charset="0"/>
                <a:ea typeface="Calibri" pitchFamily="34" charset="-122"/>
                <a:cs typeface="Times New Roman" panose="02020603050405020304" pitchFamily="18" charset="0"/>
              </a:rPr>
              <a:t>With the rapid development of computer technology, cloud-based services have become a hot topic. They not only provide users with convenience but also bring many security issues such as data sharing and privacy.</a:t>
            </a:r>
            <a:endParaRPr lang="en-US" sz="1500" dirty="0">
              <a:latin typeface="Times New Roman" panose="02020603050405020304" pitchFamily="18" charset="0"/>
              <a:cs typeface="Times New Roman" panose="02020603050405020304" pitchFamily="18" charset="0"/>
            </a:endParaRPr>
          </a:p>
          <a:p>
            <a:pPr marL="0" indent="0" algn="just">
              <a:buNone/>
            </a:pPr>
            <a:endParaRPr lang="en-US" sz="1500" dirty="0">
              <a:latin typeface="Times New Roman" panose="02020603050405020304" pitchFamily="18" charset="0"/>
              <a:cs typeface="Times New Roman" panose="02020603050405020304" pitchFamily="18" charset="0"/>
            </a:endParaRPr>
          </a:p>
          <a:p>
            <a:pPr marL="0" indent="0" algn="just">
              <a:buNone/>
            </a:pPr>
            <a:r>
              <a:rPr lang="en-US" sz="1500" dirty="0">
                <a:solidFill>
                  <a:srgbClr val="000000"/>
                </a:solidFill>
                <a:latin typeface="Times New Roman" panose="02020603050405020304" pitchFamily="18" charset="0"/>
                <a:ea typeface="Calibri" pitchFamily="34" charset="-122"/>
                <a:cs typeface="Times New Roman" panose="02020603050405020304" pitchFamily="18" charset="0"/>
              </a:rPr>
              <a:t>In this paper, we present an access control system with privilege separation based on privacy protection (PS-ACS). We divide users into private domain and public domain logically. In the Private Domain, Key-Aggregate Encryption and Improved Attribute-based Signature are adopted for read and write access respectively.</a:t>
            </a:r>
            <a:endParaRPr lang="en-US" sz="1500" dirty="0">
              <a:latin typeface="Times New Roman" panose="02020603050405020304" pitchFamily="18" charset="0"/>
              <a:cs typeface="Times New Roman" panose="02020603050405020304" pitchFamily="18" charset="0"/>
            </a:endParaRPr>
          </a:p>
          <a:p>
            <a:pPr marL="0" indent="0" algn="just">
              <a:buNone/>
            </a:pPr>
            <a:endParaRPr lang="en-US" sz="1500" dirty="0">
              <a:latin typeface="Times New Roman" panose="02020603050405020304" pitchFamily="18" charset="0"/>
              <a:cs typeface="Times New Roman" panose="02020603050405020304" pitchFamily="18" charset="0"/>
            </a:endParaRPr>
          </a:p>
          <a:p>
            <a:pPr marL="0" indent="0" algn="just">
              <a:buNone/>
            </a:pPr>
            <a:r>
              <a:rPr lang="en-US" sz="1500" dirty="0">
                <a:solidFill>
                  <a:srgbClr val="000000"/>
                </a:solidFill>
                <a:latin typeface="Times New Roman" panose="02020603050405020304" pitchFamily="18" charset="0"/>
                <a:ea typeface="Calibri" pitchFamily="34" charset="-122"/>
                <a:cs typeface="Times New Roman" panose="02020603050405020304" pitchFamily="18" charset="0"/>
              </a:rPr>
              <a:t>In the Public Domain, we construct a new multi-authority CP-ABE scheme to avoid single point of failure. The analysis and simulation results show that our scheme is feasible and superior in protecting users' privacy in cloud-based services.</a:t>
            </a:r>
            <a:endParaRPr lang="en-US" sz="1500" dirty="0">
              <a:latin typeface="Times New Roman" panose="02020603050405020304" pitchFamily="18" charset="0"/>
              <a:cs typeface="Times New Roman" panose="02020603050405020304" pitchFamily="18" charset="0"/>
            </a:endParaRPr>
          </a:p>
        </p:txBody>
      </p:sp>
      <p:pic>
        <p:nvPicPr>
          <p:cNvPr id="7" name="Google Shape;95;p1" descr="Thiagarajar College (@ThiagarajarArts) | Twitter"/>
          <p:cNvPicPr preferRelativeResize="0"/>
          <p:nvPr/>
        </p:nvPicPr>
        <p:blipFill rotWithShape="1">
          <a:blip r:embed="rId3">
            <a:alphaModFix/>
          </a:blip>
          <a:srcRect/>
          <a:stretch/>
        </p:blipFill>
        <p:spPr>
          <a:xfrm>
            <a:off x="4114800" y="68580"/>
            <a:ext cx="520262" cy="428034"/>
          </a:xfrm>
          <a:prstGeom prst="rect">
            <a:avLst/>
          </a:prstGeom>
          <a:noFill/>
          <a:ln>
            <a:noFill/>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307428"/>
            <a:ext cx="8412480" cy="804040"/>
          </a:xfrm>
          <a:prstGeom prst="rect">
            <a:avLst/>
          </a:prstGeom>
          <a:noFill/>
          <a:ln/>
        </p:spPr>
        <p:txBody>
          <a:bodyPr wrap="square" rtlCol="0" anchor="ctr"/>
          <a:lstStyle/>
          <a:p>
            <a:pPr marL="0" indent="0">
              <a:buNone/>
            </a:pPr>
            <a:r>
              <a:rPr lang="en-US" sz="2800" b="1" u="sng" dirty="0">
                <a:solidFill>
                  <a:srgbClr val="000000"/>
                </a:solidFill>
                <a:latin typeface="Times New Roman" panose="02020603050405020304" pitchFamily="18" charset="0"/>
                <a:ea typeface="Calibri" pitchFamily="34" charset="-122"/>
                <a:cs typeface="Times New Roman" panose="02020603050405020304" pitchFamily="18" charset="0"/>
              </a:rPr>
              <a:t>EXISTING SYSTEM</a:t>
            </a:r>
            <a:endParaRPr lang="en-US" sz="2800" dirty="0">
              <a:latin typeface="Times New Roman" panose="02020603050405020304" pitchFamily="18" charset="0"/>
              <a:cs typeface="Times New Roman" panose="02020603050405020304" pitchFamily="18" charset="0"/>
            </a:endParaRPr>
          </a:p>
        </p:txBody>
      </p:sp>
      <p:sp>
        <p:nvSpPr>
          <p:cNvPr id="3" name="Text 1"/>
          <p:cNvSpPr/>
          <p:nvPr/>
        </p:nvSpPr>
        <p:spPr>
          <a:xfrm>
            <a:off x="274320" y="4873752"/>
            <a:ext cx="1371600" cy="201168"/>
          </a:xfrm>
          <a:prstGeom prst="rect">
            <a:avLst/>
          </a:prstGeom>
          <a:noFill/>
          <a:ln/>
        </p:spPr>
        <p:txBody>
          <a:bodyPr wrap="square" rtlCol="0" anchor="ctr"/>
          <a:lstStyle/>
          <a:p>
            <a:pPr marL="0" indent="0">
              <a:buNone/>
            </a:pPr>
            <a:r>
              <a:rPr lang="en-US" sz="900" dirty="0">
                <a:solidFill>
                  <a:schemeClr val="bg1">
                    <a:lumMod val="50000"/>
                  </a:schemeClr>
                </a:solidFill>
                <a:latin typeface="Calibri" pitchFamily="34" charset="0"/>
                <a:ea typeface="Calibri" pitchFamily="34" charset="-122"/>
                <a:cs typeface="Calibri" pitchFamily="34" charset="-120"/>
              </a:rPr>
              <a:t>11/03/2026</a:t>
            </a:r>
            <a:endParaRPr lang="en-US" sz="900" dirty="0">
              <a:solidFill>
                <a:schemeClr val="bg1">
                  <a:lumMod val="50000"/>
                </a:schemeClr>
              </a:solidFill>
            </a:endParaRPr>
          </a:p>
        </p:txBody>
      </p:sp>
      <p:sp>
        <p:nvSpPr>
          <p:cNvPr id="4" name="Text 2"/>
          <p:cNvSpPr/>
          <p:nvPr/>
        </p:nvSpPr>
        <p:spPr>
          <a:xfrm>
            <a:off x="1828800" y="4873752"/>
            <a:ext cx="5486400" cy="201168"/>
          </a:xfrm>
          <a:prstGeom prst="rect">
            <a:avLst/>
          </a:prstGeom>
          <a:noFill/>
          <a:ln/>
        </p:spPr>
        <p:txBody>
          <a:bodyPr wrap="square" rtlCol="0" anchor="ctr"/>
          <a:lstStyle/>
          <a:p>
            <a:pPr lvl="0" algn="ctr"/>
            <a:r>
              <a:rPr lang="en-US" sz="900" dirty="0">
                <a:solidFill>
                  <a:schemeClr val="bg1">
                    <a:lumMod val="50000"/>
                  </a:schemeClr>
                </a:solidFill>
              </a:rPr>
              <a:t>PCS24PJ41 Project - Second Review Presentation 2025- 2026</a:t>
            </a:r>
          </a:p>
        </p:txBody>
      </p:sp>
      <p:sp>
        <p:nvSpPr>
          <p:cNvPr id="5" name="Text 3"/>
          <p:cNvSpPr/>
          <p:nvPr/>
        </p:nvSpPr>
        <p:spPr>
          <a:xfrm>
            <a:off x="8686800" y="4873752"/>
            <a:ext cx="365760" cy="201168"/>
          </a:xfrm>
          <a:prstGeom prst="rect">
            <a:avLst/>
          </a:prstGeom>
          <a:noFill/>
          <a:ln/>
        </p:spPr>
        <p:txBody>
          <a:bodyPr wrap="square" rtlCol="0" anchor="ctr"/>
          <a:lstStyle/>
          <a:p>
            <a:pPr marL="0" indent="0" algn="r">
              <a:buNone/>
            </a:pPr>
            <a:r>
              <a:rPr lang="en-US" sz="900" dirty="0">
                <a:solidFill>
                  <a:srgbClr val="000000"/>
                </a:solidFill>
                <a:latin typeface="Calibri" pitchFamily="34" charset="0"/>
                <a:ea typeface="Calibri" pitchFamily="34" charset="-122"/>
                <a:cs typeface="Calibri" pitchFamily="34" charset="-120"/>
              </a:rPr>
              <a:t>4</a:t>
            </a:r>
            <a:endParaRPr lang="en-US" sz="900" dirty="0"/>
          </a:p>
        </p:txBody>
      </p:sp>
      <p:sp>
        <p:nvSpPr>
          <p:cNvPr id="6" name="Text 4"/>
          <p:cNvSpPr/>
          <p:nvPr/>
        </p:nvSpPr>
        <p:spPr>
          <a:xfrm>
            <a:off x="457200" y="960120"/>
            <a:ext cx="8229600" cy="3749040"/>
          </a:xfrm>
          <a:prstGeom prst="rect">
            <a:avLst/>
          </a:prstGeom>
          <a:noFill/>
          <a:ln/>
        </p:spPr>
        <p:txBody>
          <a:bodyPr wrap="square" rtlCol="0" anchor="t"/>
          <a:lstStyle/>
          <a:p>
            <a:pPr marL="342900" indent="-342900">
              <a:spcAft>
                <a:spcPts val="9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Trust between users and cloud service providers is established using remote attestation techniques.</a:t>
            </a:r>
            <a:endParaRPr lang="en-US" sz="1400" dirty="0">
              <a:latin typeface="Times New Roman" panose="02020603050405020304" pitchFamily="18" charset="0"/>
              <a:cs typeface="Times New Roman" panose="02020603050405020304" pitchFamily="18" charset="0"/>
            </a:endParaRPr>
          </a:p>
          <a:p>
            <a:pPr marL="342900" indent="-342900">
              <a:spcAft>
                <a:spcPts val="9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These protocols verify configuration and security status of the host platform before launching guest virtual machines.</a:t>
            </a:r>
            <a:endParaRPr lang="en-US" sz="1400" dirty="0">
              <a:latin typeface="Times New Roman" panose="02020603050405020304" pitchFamily="18" charset="0"/>
              <a:cs typeface="Times New Roman" panose="02020603050405020304" pitchFamily="18" charset="0"/>
            </a:endParaRPr>
          </a:p>
          <a:p>
            <a:pPr marL="342900" indent="-342900">
              <a:spcAft>
                <a:spcPts val="9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Encryption keys are stored outside the IaaS domain, preventing cloud providers from accessing sensitive data.</a:t>
            </a:r>
            <a:endParaRPr lang="en-US" sz="1400" dirty="0">
              <a:latin typeface="Times New Roman" panose="02020603050405020304" pitchFamily="18" charset="0"/>
              <a:cs typeface="Times New Roman" panose="02020603050405020304" pitchFamily="18" charset="0"/>
            </a:endParaRPr>
          </a:p>
          <a:p>
            <a:pPr marL="342900" indent="-342900">
              <a:spcAft>
                <a:spcPts val="9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The system was tested on a prototype simulating a public electronic health record system.</a:t>
            </a:r>
            <a:endParaRPr lang="en-US" sz="1400" dirty="0">
              <a:latin typeface="Times New Roman" panose="02020603050405020304" pitchFamily="18" charset="0"/>
              <a:cs typeface="Times New Roman" panose="02020603050405020304" pitchFamily="18" charset="0"/>
            </a:endParaRPr>
          </a:p>
          <a:p>
            <a:pPr marL="342900" indent="-342900">
              <a:spcAft>
                <a:spcPts val="9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Results showed that proposed protocols can effectively establish trust between clients and cloud hosts.</a:t>
            </a:r>
            <a:endParaRPr lang="en-US" sz="1400" dirty="0">
              <a:latin typeface="Times New Roman" panose="02020603050405020304" pitchFamily="18" charset="0"/>
              <a:cs typeface="Times New Roman" panose="02020603050405020304" pitchFamily="18" charset="0"/>
            </a:endParaRPr>
          </a:p>
          <a:p>
            <a:pPr marL="342900" indent="-342900">
              <a:spcAft>
                <a:spcPts val="9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Uses a scalable key management mechanism with graph-based access rights representation.</a:t>
            </a:r>
            <a:endParaRPr lang="en-US" sz="1400" dirty="0">
              <a:latin typeface="Times New Roman" panose="02020603050405020304" pitchFamily="18" charset="0"/>
              <a:cs typeface="Times New Roman" panose="02020603050405020304" pitchFamily="18" charset="0"/>
            </a:endParaRPr>
          </a:p>
          <a:p>
            <a:pPr marL="342900" indent="-342900">
              <a:spcAft>
                <a:spcPts val="9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Limitation: Complex key distribution, risk of single point of failure, and limited scalability across domains.</a:t>
            </a:r>
            <a:endParaRPr lang="en-US" sz="1400" dirty="0">
              <a:latin typeface="Times New Roman" panose="02020603050405020304" pitchFamily="18" charset="0"/>
              <a:cs typeface="Times New Roman" panose="02020603050405020304" pitchFamily="18" charset="0"/>
            </a:endParaRPr>
          </a:p>
        </p:txBody>
      </p:sp>
      <p:pic>
        <p:nvPicPr>
          <p:cNvPr id="7" name="Google Shape;95;p1" descr="Thiagarajar College (@ThiagarajarArts) | Twitter"/>
          <p:cNvPicPr preferRelativeResize="0"/>
          <p:nvPr/>
        </p:nvPicPr>
        <p:blipFill rotWithShape="1">
          <a:blip r:embed="rId3">
            <a:alphaModFix/>
          </a:blip>
          <a:srcRect/>
          <a:stretch/>
        </p:blipFill>
        <p:spPr>
          <a:xfrm>
            <a:off x="4122682" y="68580"/>
            <a:ext cx="512379" cy="420151"/>
          </a:xfrm>
          <a:prstGeom prst="rect">
            <a:avLst/>
          </a:prstGeom>
          <a:noFill/>
          <a:ln>
            <a:noFill/>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28600"/>
            <a:ext cx="8412480" cy="835572"/>
          </a:xfrm>
          <a:prstGeom prst="rect">
            <a:avLst/>
          </a:prstGeom>
          <a:noFill/>
          <a:ln/>
        </p:spPr>
        <p:txBody>
          <a:bodyPr wrap="square" rtlCol="0" anchor="ctr"/>
          <a:lstStyle/>
          <a:p>
            <a:pPr marL="0" indent="0">
              <a:buNone/>
            </a:pPr>
            <a:r>
              <a:rPr lang="en-US" sz="2800" b="1" u="sng" dirty="0">
                <a:solidFill>
                  <a:srgbClr val="000000"/>
                </a:solidFill>
                <a:latin typeface="Times New Roman" panose="02020603050405020304" pitchFamily="18" charset="0"/>
                <a:ea typeface="Calibri" pitchFamily="34" charset="-122"/>
                <a:cs typeface="Times New Roman" panose="02020603050405020304" pitchFamily="18" charset="0"/>
              </a:rPr>
              <a:t>PROPOSED SYSTEM</a:t>
            </a:r>
            <a:endParaRPr lang="en-US" sz="2800" dirty="0">
              <a:latin typeface="Times New Roman" panose="02020603050405020304" pitchFamily="18" charset="0"/>
              <a:cs typeface="Times New Roman" panose="02020603050405020304" pitchFamily="18" charset="0"/>
            </a:endParaRPr>
          </a:p>
        </p:txBody>
      </p:sp>
      <p:sp>
        <p:nvSpPr>
          <p:cNvPr id="3" name="Text 1"/>
          <p:cNvSpPr/>
          <p:nvPr/>
        </p:nvSpPr>
        <p:spPr>
          <a:xfrm>
            <a:off x="274320" y="4873752"/>
            <a:ext cx="1371600" cy="201168"/>
          </a:xfrm>
          <a:prstGeom prst="rect">
            <a:avLst/>
          </a:prstGeom>
          <a:noFill/>
          <a:ln/>
        </p:spPr>
        <p:txBody>
          <a:bodyPr wrap="square" rtlCol="0" anchor="ctr"/>
          <a:lstStyle/>
          <a:p>
            <a:r>
              <a:rPr lang="en-US" sz="900" dirty="0">
                <a:solidFill>
                  <a:schemeClr val="bg1">
                    <a:lumMod val="50000"/>
                  </a:schemeClr>
                </a:solidFill>
                <a:latin typeface="Calibri" pitchFamily="34" charset="0"/>
                <a:ea typeface="Calibri" pitchFamily="34" charset="-122"/>
                <a:cs typeface="Calibri" pitchFamily="34" charset="-120"/>
              </a:rPr>
              <a:t>11/03/2026</a:t>
            </a:r>
            <a:endParaRPr lang="en-US" sz="900" dirty="0">
              <a:solidFill>
                <a:schemeClr val="bg1">
                  <a:lumMod val="50000"/>
                </a:schemeClr>
              </a:solidFill>
            </a:endParaRPr>
          </a:p>
        </p:txBody>
      </p:sp>
      <p:sp>
        <p:nvSpPr>
          <p:cNvPr id="4" name="Text 2"/>
          <p:cNvSpPr/>
          <p:nvPr/>
        </p:nvSpPr>
        <p:spPr>
          <a:xfrm>
            <a:off x="1828800" y="4873752"/>
            <a:ext cx="5486400" cy="201168"/>
          </a:xfrm>
          <a:prstGeom prst="rect">
            <a:avLst/>
          </a:prstGeom>
          <a:noFill/>
          <a:ln/>
        </p:spPr>
        <p:txBody>
          <a:bodyPr wrap="square" rtlCol="0" anchor="ctr"/>
          <a:lstStyle/>
          <a:p>
            <a:pPr lvl="0" algn="ctr"/>
            <a:r>
              <a:rPr lang="en-US" sz="900" dirty="0">
                <a:solidFill>
                  <a:schemeClr val="bg1">
                    <a:lumMod val="50000"/>
                  </a:schemeClr>
                </a:solidFill>
              </a:rPr>
              <a:t>PCS24PJ41 Project - Second Review Presentation 2025- 2026</a:t>
            </a:r>
          </a:p>
        </p:txBody>
      </p:sp>
      <p:sp>
        <p:nvSpPr>
          <p:cNvPr id="5" name="Text 3"/>
          <p:cNvSpPr/>
          <p:nvPr/>
        </p:nvSpPr>
        <p:spPr>
          <a:xfrm>
            <a:off x="8686800" y="4873752"/>
            <a:ext cx="365760" cy="201168"/>
          </a:xfrm>
          <a:prstGeom prst="rect">
            <a:avLst/>
          </a:prstGeom>
          <a:noFill/>
          <a:ln/>
        </p:spPr>
        <p:txBody>
          <a:bodyPr wrap="square" rtlCol="0" anchor="ctr"/>
          <a:lstStyle/>
          <a:p>
            <a:pPr marL="0" indent="0" algn="r">
              <a:buNone/>
            </a:pPr>
            <a:r>
              <a:rPr lang="en-US" sz="900" dirty="0">
                <a:solidFill>
                  <a:srgbClr val="000000"/>
                </a:solidFill>
                <a:latin typeface="Calibri" pitchFamily="34" charset="0"/>
                <a:ea typeface="Calibri" pitchFamily="34" charset="-122"/>
                <a:cs typeface="Calibri" pitchFamily="34" charset="-120"/>
              </a:rPr>
              <a:t>5</a:t>
            </a:r>
            <a:endParaRPr lang="en-US" sz="900" dirty="0"/>
          </a:p>
        </p:txBody>
      </p:sp>
      <p:sp>
        <p:nvSpPr>
          <p:cNvPr id="6" name="Text 4"/>
          <p:cNvSpPr/>
          <p:nvPr/>
        </p:nvSpPr>
        <p:spPr>
          <a:xfrm>
            <a:off x="457200" y="960120"/>
            <a:ext cx="8229600" cy="3749040"/>
          </a:xfrm>
          <a:prstGeom prst="rect">
            <a:avLst/>
          </a:prstGeom>
          <a:noFill/>
          <a:ln/>
        </p:spPr>
        <p:txBody>
          <a:bodyPr wrap="square" rtlCol="0" anchor="t"/>
          <a:lstStyle/>
          <a:p>
            <a:pPr marL="342900" indent="-342900">
              <a:spcAft>
                <a:spcPts val="800"/>
              </a:spcAft>
              <a:buSzPct val="100000"/>
              <a:buChar char="•"/>
            </a:pPr>
            <a:r>
              <a:rPr lang="en-US" sz="1300" dirty="0">
                <a:solidFill>
                  <a:srgbClr val="000000"/>
                </a:solidFill>
                <a:latin typeface="Times New Roman" panose="02020603050405020304" pitchFamily="18" charset="0"/>
                <a:ea typeface="Calibri" pitchFamily="34" charset="-122"/>
                <a:cs typeface="Times New Roman" panose="02020603050405020304" pitchFamily="18" charset="0"/>
              </a:rPr>
              <a:t>The proposed system introduces the PS-ACS scheme — Privilege Separation based Access Control in Cloud Services.</a:t>
            </a:r>
            <a:endParaRPr lang="en-US" sz="1300" dirty="0">
              <a:latin typeface="Times New Roman" panose="02020603050405020304" pitchFamily="18" charset="0"/>
              <a:cs typeface="Times New Roman" panose="02020603050405020304" pitchFamily="18" charset="0"/>
            </a:endParaRPr>
          </a:p>
          <a:p>
            <a:pPr marL="342900" indent="-342900">
              <a:spcAft>
                <a:spcPts val="800"/>
              </a:spcAft>
              <a:buSzPct val="100000"/>
              <a:buChar char="•"/>
            </a:pPr>
            <a:r>
              <a:rPr lang="en-US" sz="1300" dirty="0">
                <a:solidFill>
                  <a:srgbClr val="000000"/>
                </a:solidFill>
                <a:latin typeface="Times New Roman" panose="02020603050405020304" pitchFamily="18" charset="0"/>
                <a:ea typeface="Calibri" pitchFamily="34" charset="-122"/>
                <a:cs typeface="Times New Roman" panose="02020603050405020304" pitchFamily="18" charset="0"/>
              </a:rPr>
              <a:t>Users are logically divided into Private Domain and Public Domain.</a:t>
            </a:r>
            <a:endParaRPr lang="en-US" sz="1300" dirty="0">
              <a:latin typeface="Times New Roman" panose="02020603050405020304" pitchFamily="18" charset="0"/>
              <a:cs typeface="Times New Roman" panose="02020603050405020304" pitchFamily="18" charset="0"/>
            </a:endParaRPr>
          </a:p>
          <a:p>
            <a:pPr marL="342900" indent="-342900">
              <a:spcAft>
                <a:spcPts val="800"/>
              </a:spcAft>
              <a:buSzPct val="100000"/>
              <a:buChar char="•"/>
            </a:pPr>
            <a:r>
              <a:rPr lang="en-US" sz="1300" dirty="0">
                <a:solidFill>
                  <a:srgbClr val="000000"/>
                </a:solidFill>
                <a:latin typeface="Times New Roman" panose="02020603050405020304" pitchFamily="18" charset="0"/>
                <a:ea typeface="Calibri" pitchFamily="34" charset="-122"/>
                <a:cs typeface="Times New Roman" panose="02020603050405020304" pitchFamily="18" charset="0"/>
              </a:rPr>
              <a:t>Private Domain uses Key-Aggregate Encryption (read access) and Improved Attribute-Based Signature (write access).</a:t>
            </a:r>
            <a:endParaRPr lang="en-US" sz="1300" dirty="0">
              <a:latin typeface="Times New Roman" panose="02020603050405020304" pitchFamily="18" charset="0"/>
              <a:cs typeface="Times New Roman" panose="02020603050405020304" pitchFamily="18" charset="0"/>
            </a:endParaRPr>
          </a:p>
          <a:p>
            <a:pPr marL="342900" indent="-342900">
              <a:spcAft>
                <a:spcPts val="800"/>
              </a:spcAft>
              <a:buSzPct val="100000"/>
              <a:buChar char="•"/>
            </a:pPr>
            <a:r>
              <a:rPr lang="en-US" sz="1300" dirty="0">
                <a:solidFill>
                  <a:srgbClr val="000000"/>
                </a:solidFill>
                <a:latin typeface="Times New Roman" panose="02020603050405020304" pitchFamily="18" charset="0"/>
                <a:ea typeface="Calibri" pitchFamily="34" charset="-122"/>
                <a:cs typeface="Times New Roman" panose="02020603050405020304" pitchFamily="18" charset="0"/>
              </a:rPr>
              <a:t>Public Domain uses a multi-authority CP-ABE scheme to avoid single point of failure in key distribution.</a:t>
            </a:r>
            <a:endParaRPr lang="en-US" sz="1300" dirty="0">
              <a:latin typeface="Times New Roman" panose="02020603050405020304" pitchFamily="18" charset="0"/>
              <a:cs typeface="Times New Roman" panose="02020603050405020304" pitchFamily="18" charset="0"/>
            </a:endParaRPr>
          </a:p>
          <a:p>
            <a:pPr marL="342900" indent="-342900">
              <a:spcAft>
                <a:spcPts val="800"/>
              </a:spcAft>
              <a:buSzPct val="100000"/>
              <a:buChar char="•"/>
            </a:pPr>
            <a:r>
              <a:rPr lang="en-US" sz="1300" dirty="0">
                <a:solidFill>
                  <a:srgbClr val="000000"/>
                </a:solidFill>
                <a:latin typeface="Times New Roman" panose="02020603050405020304" pitchFamily="18" charset="0"/>
                <a:ea typeface="Calibri" pitchFamily="34" charset="-122"/>
                <a:cs typeface="Times New Roman" panose="02020603050405020304" pitchFamily="18" charset="0"/>
              </a:rPr>
              <a:t>Files are automatically split into encrypted partitions upon upload, increasing data security.</a:t>
            </a:r>
            <a:endParaRPr lang="en-US" sz="1300" dirty="0">
              <a:latin typeface="Times New Roman" panose="02020603050405020304" pitchFamily="18" charset="0"/>
              <a:cs typeface="Times New Roman" panose="02020603050405020304" pitchFamily="18" charset="0"/>
            </a:endParaRPr>
          </a:p>
          <a:p>
            <a:pPr marL="342900" indent="-342900">
              <a:spcAft>
                <a:spcPts val="800"/>
              </a:spcAft>
              <a:buSzPct val="100000"/>
              <a:buChar char="•"/>
            </a:pPr>
            <a:r>
              <a:rPr lang="en-US" sz="1300" dirty="0">
                <a:solidFill>
                  <a:srgbClr val="000000"/>
                </a:solidFill>
                <a:latin typeface="Times New Roman" panose="02020603050405020304" pitchFamily="18" charset="0"/>
                <a:ea typeface="Calibri" pitchFamily="34" charset="-122"/>
                <a:cs typeface="Times New Roman" panose="02020603050405020304" pitchFamily="18" charset="0"/>
              </a:rPr>
              <a:t>Each file is protected with an OTP key sent to the user's registered email for authenticated access.</a:t>
            </a:r>
            <a:endParaRPr lang="en-US" sz="1300" dirty="0">
              <a:latin typeface="Times New Roman" panose="02020603050405020304" pitchFamily="18" charset="0"/>
              <a:cs typeface="Times New Roman" panose="02020603050405020304" pitchFamily="18" charset="0"/>
            </a:endParaRPr>
          </a:p>
          <a:p>
            <a:pPr marL="342900" indent="-342900">
              <a:spcAft>
                <a:spcPts val="800"/>
              </a:spcAft>
              <a:buSzPct val="100000"/>
              <a:buChar char="•"/>
            </a:pPr>
            <a:r>
              <a:rPr lang="en-US" sz="1300" dirty="0">
                <a:solidFill>
                  <a:srgbClr val="000000"/>
                </a:solidFill>
                <a:latin typeface="Times New Roman" panose="02020603050405020304" pitchFamily="18" charset="0"/>
                <a:ea typeface="Calibri" pitchFamily="34" charset="-122"/>
                <a:cs typeface="Times New Roman" panose="02020603050405020304" pitchFamily="18" charset="0"/>
              </a:rPr>
              <a:t>A Trusted Third Party Auditor (TPA) verifies cloud file integrity using digital certificates.</a:t>
            </a:r>
            <a:endParaRPr lang="en-US" sz="1300" dirty="0">
              <a:latin typeface="Times New Roman" panose="02020603050405020304" pitchFamily="18" charset="0"/>
              <a:cs typeface="Times New Roman" panose="02020603050405020304" pitchFamily="18" charset="0"/>
            </a:endParaRPr>
          </a:p>
          <a:p>
            <a:pPr marL="342900" indent="-342900">
              <a:spcAft>
                <a:spcPts val="800"/>
              </a:spcAft>
              <a:buSzPct val="100000"/>
              <a:buChar char="•"/>
            </a:pPr>
            <a:r>
              <a:rPr lang="en-US" sz="1300" dirty="0">
                <a:solidFill>
                  <a:srgbClr val="000000"/>
                </a:solidFill>
                <a:latin typeface="Times New Roman" panose="02020603050405020304" pitchFamily="18" charset="0"/>
                <a:ea typeface="Calibri" pitchFamily="34" charset="-122"/>
                <a:cs typeface="Times New Roman" panose="02020603050405020304" pitchFamily="18" charset="0"/>
              </a:rPr>
              <a:t>The administrator manages user requests, monitors file access, and controls system security.</a:t>
            </a:r>
            <a:endParaRPr lang="en-US" sz="1300" dirty="0">
              <a:latin typeface="Times New Roman" panose="02020603050405020304" pitchFamily="18" charset="0"/>
              <a:cs typeface="Times New Roman" panose="02020603050405020304" pitchFamily="18" charset="0"/>
            </a:endParaRPr>
          </a:p>
        </p:txBody>
      </p:sp>
      <p:pic>
        <p:nvPicPr>
          <p:cNvPr id="7" name="Google Shape;95;p1" descr="Thiagarajar College (@ThiagarajarArts) | Twitter"/>
          <p:cNvPicPr preferRelativeResize="0"/>
          <p:nvPr/>
        </p:nvPicPr>
        <p:blipFill rotWithShape="1">
          <a:blip r:embed="rId3">
            <a:alphaModFix/>
          </a:blip>
          <a:srcRect/>
          <a:stretch/>
        </p:blipFill>
        <p:spPr>
          <a:xfrm>
            <a:off x="4122682" y="68581"/>
            <a:ext cx="512379" cy="364972"/>
          </a:xfrm>
          <a:prstGeom prst="rect">
            <a:avLst/>
          </a:prstGeom>
          <a:noFill/>
          <a:ln>
            <a:noFill/>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6119" y="414161"/>
            <a:ext cx="8412480" cy="571183"/>
          </a:xfrm>
          <a:prstGeom prst="rect">
            <a:avLst/>
          </a:prstGeom>
          <a:noFill/>
          <a:ln/>
        </p:spPr>
        <p:txBody>
          <a:bodyPr wrap="square" rtlCol="0" anchor="ctr"/>
          <a:lstStyle/>
          <a:p>
            <a:pPr marL="0" indent="0" algn="just">
              <a:buNone/>
            </a:pPr>
            <a:r>
              <a:rPr lang="en-US" sz="2800" b="1" u="sng" dirty="0">
                <a:solidFill>
                  <a:srgbClr val="000000"/>
                </a:solidFill>
                <a:latin typeface="Times New Roman" panose="02020603050405020304" pitchFamily="18" charset="0"/>
                <a:ea typeface="Calibri" pitchFamily="34" charset="-122"/>
                <a:cs typeface="Times New Roman" panose="02020603050405020304" pitchFamily="18" charset="0"/>
              </a:rPr>
              <a:t>PROPOSED SYSTEM ARCHITECTURE</a:t>
            </a:r>
            <a:endParaRPr lang="en-US" sz="2800" dirty="0">
              <a:latin typeface="Times New Roman" panose="02020603050405020304" pitchFamily="18" charset="0"/>
              <a:cs typeface="Times New Roman" panose="02020603050405020304" pitchFamily="18" charset="0"/>
            </a:endParaRPr>
          </a:p>
        </p:txBody>
      </p:sp>
      <p:sp>
        <p:nvSpPr>
          <p:cNvPr id="3" name="Text 1"/>
          <p:cNvSpPr/>
          <p:nvPr/>
        </p:nvSpPr>
        <p:spPr>
          <a:xfrm>
            <a:off x="274320" y="4873752"/>
            <a:ext cx="1371600" cy="201168"/>
          </a:xfrm>
          <a:prstGeom prst="rect">
            <a:avLst/>
          </a:prstGeom>
          <a:noFill/>
          <a:ln/>
        </p:spPr>
        <p:txBody>
          <a:bodyPr wrap="square" rtlCol="0" anchor="ctr"/>
          <a:lstStyle/>
          <a:p>
            <a:r>
              <a:rPr lang="en-US" sz="900" dirty="0">
                <a:solidFill>
                  <a:schemeClr val="bg1">
                    <a:lumMod val="50000"/>
                  </a:schemeClr>
                </a:solidFill>
                <a:latin typeface="Calibri" pitchFamily="34" charset="0"/>
                <a:ea typeface="Calibri" pitchFamily="34" charset="-122"/>
                <a:cs typeface="Calibri" pitchFamily="34" charset="-120"/>
              </a:rPr>
              <a:t>11/03/2026</a:t>
            </a:r>
            <a:endParaRPr lang="en-US" sz="900" dirty="0">
              <a:solidFill>
                <a:schemeClr val="bg1">
                  <a:lumMod val="50000"/>
                </a:schemeClr>
              </a:solidFill>
            </a:endParaRPr>
          </a:p>
        </p:txBody>
      </p:sp>
      <p:sp>
        <p:nvSpPr>
          <p:cNvPr id="4" name="Text 2"/>
          <p:cNvSpPr/>
          <p:nvPr/>
        </p:nvSpPr>
        <p:spPr>
          <a:xfrm>
            <a:off x="1891861" y="4889360"/>
            <a:ext cx="5486400" cy="201168"/>
          </a:xfrm>
          <a:prstGeom prst="rect">
            <a:avLst/>
          </a:prstGeom>
          <a:noFill/>
          <a:ln/>
        </p:spPr>
        <p:txBody>
          <a:bodyPr wrap="square" rtlCol="0" anchor="ctr"/>
          <a:lstStyle/>
          <a:p>
            <a:pPr lvl="0" algn="ctr"/>
            <a:r>
              <a:rPr lang="en-US" sz="900" dirty="0">
                <a:solidFill>
                  <a:schemeClr val="bg1">
                    <a:lumMod val="50000"/>
                  </a:schemeClr>
                </a:solidFill>
              </a:rPr>
              <a:t>PCS24PJ41 Project - Second Review Presentation 2025- 2026</a:t>
            </a:r>
          </a:p>
        </p:txBody>
      </p:sp>
      <p:sp>
        <p:nvSpPr>
          <p:cNvPr id="5" name="Text 3"/>
          <p:cNvSpPr/>
          <p:nvPr/>
        </p:nvSpPr>
        <p:spPr>
          <a:xfrm>
            <a:off x="8686800" y="4873752"/>
            <a:ext cx="365760" cy="201168"/>
          </a:xfrm>
          <a:prstGeom prst="rect">
            <a:avLst/>
          </a:prstGeom>
          <a:noFill/>
          <a:ln/>
        </p:spPr>
        <p:txBody>
          <a:bodyPr wrap="square" rtlCol="0" anchor="ctr"/>
          <a:lstStyle/>
          <a:p>
            <a:pPr marL="0" indent="0" algn="r">
              <a:buNone/>
            </a:pPr>
            <a:r>
              <a:rPr lang="en-US" sz="900" dirty="0">
                <a:solidFill>
                  <a:srgbClr val="000000"/>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640080" y="1188720"/>
            <a:ext cx="1828800" cy="731520"/>
          </a:xfrm>
          <a:prstGeom prst="rect">
            <a:avLst/>
          </a:prstGeom>
          <a:solidFill>
            <a:srgbClr val="FFFFFF"/>
          </a:solidFill>
          <a:ln w="12700">
            <a:solidFill>
              <a:srgbClr val="000000"/>
            </a:solidFill>
            <a:prstDash val="solid"/>
          </a:ln>
        </p:spPr>
      </p:sp>
      <p:sp>
        <p:nvSpPr>
          <p:cNvPr id="7" name="Text 5"/>
          <p:cNvSpPr/>
          <p:nvPr/>
        </p:nvSpPr>
        <p:spPr>
          <a:xfrm>
            <a:off x="640080" y="1188720"/>
            <a:ext cx="1828800" cy="731520"/>
          </a:xfrm>
          <a:prstGeom prst="rect">
            <a:avLst/>
          </a:prstGeom>
          <a:noFill/>
          <a:ln/>
        </p:spPr>
        <p:txBody>
          <a:bodyPr wrap="square" rtlCol="0" anchor="ctr"/>
          <a:lstStyle/>
          <a:p>
            <a:pPr marL="0" indent="0" algn="ctr">
              <a:buNone/>
            </a:pPr>
            <a:r>
              <a:rPr lang="en-US" sz="1300" b="1" dirty="0">
                <a:solidFill>
                  <a:srgbClr val="000000"/>
                </a:solidFill>
                <a:latin typeface="Times New Roman" panose="02020603050405020304" pitchFamily="18" charset="0"/>
                <a:ea typeface="Calibri" pitchFamily="34" charset="-122"/>
                <a:cs typeface="Times New Roman" panose="02020603050405020304" pitchFamily="18" charset="0"/>
              </a:rPr>
              <a:t>User</a:t>
            </a:r>
            <a:endParaRPr lang="en-US" sz="1300" dirty="0">
              <a:latin typeface="Times New Roman" panose="02020603050405020304" pitchFamily="18" charset="0"/>
              <a:cs typeface="Times New Roman" panose="02020603050405020304" pitchFamily="18" charset="0"/>
            </a:endParaRPr>
          </a:p>
        </p:txBody>
      </p:sp>
      <p:sp>
        <p:nvSpPr>
          <p:cNvPr id="8" name="Shape 6"/>
          <p:cNvSpPr/>
          <p:nvPr/>
        </p:nvSpPr>
        <p:spPr>
          <a:xfrm>
            <a:off x="3657600" y="1097280"/>
            <a:ext cx="2560320" cy="822960"/>
          </a:xfrm>
          <a:prstGeom prst="rect">
            <a:avLst/>
          </a:prstGeom>
          <a:solidFill>
            <a:srgbClr val="FFFFFF"/>
          </a:solidFill>
          <a:ln w="12700">
            <a:solidFill>
              <a:srgbClr val="000000"/>
            </a:solidFill>
            <a:prstDash val="solid"/>
          </a:ln>
        </p:spPr>
      </p:sp>
      <p:sp>
        <p:nvSpPr>
          <p:cNvPr id="9" name="Text 7"/>
          <p:cNvSpPr/>
          <p:nvPr/>
        </p:nvSpPr>
        <p:spPr>
          <a:xfrm>
            <a:off x="3657600" y="1097280"/>
            <a:ext cx="2560320" cy="822960"/>
          </a:xfrm>
          <a:prstGeom prst="rect">
            <a:avLst/>
          </a:prstGeom>
          <a:noFill/>
          <a:ln/>
        </p:spPr>
        <p:txBody>
          <a:bodyPr wrap="square" rtlCol="0" anchor="ctr"/>
          <a:lstStyle/>
          <a:p>
            <a:pPr marL="0" indent="0" algn="ctr">
              <a:buNone/>
            </a:pPr>
            <a:r>
              <a:rPr lang="en-US" sz="1300" b="1" dirty="0">
                <a:solidFill>
                  <a:srgbClr val="000000"/>
                </a:solidFill>
                <a:latin typeface="Times New Roman" panose="02020603050405020304" pitchFamily="18" charset="0"/>
                <a:ea typeface="Calibri" pitchFamily="34" charset="-122"/>
                <a:cs typeface="Times New Roman" panose="02020603050405020304" pitchFamily="18" charset="0"/>
              </a:rPr>
              <a:t>Application Server</a:t>
            </a:r>
            <a:endParaRPr lang="en-US" sz="1300" dirty="0">
              <a:latin typeface="Times New Roman" panose="02020603050405020304" pitchFamily="18" charset="0"/>
              <a:cs typeface="Times New Roman" panose="02020603050405020304" pitchFamily="18" charset="0"/>
            </a:endParaRPr>
          </a:p>
        </p:txBody>
      </p:sp>
      <p:sp>
        <p:nvSpPr>
          <p:cNvPr id="10" name="Shape 8"/>
          <p:cNvSpPr/>
          <p:nvPr/>
        </p:nvSpPr>
        <p:spPr>
          <a:xfrm>
            <a:off x="6675120" y="1188720"/>
            <a:ext cx="1828800" cy="731520"/>
          </a:xfrm>
          <a:prstGeom prst="rect">
            <a:avLst/>
          </a:prstGeom>
          <a:solidFill>
            <a:srgbClr val="FFFFFF"/>
          </a:solidFill>
          <a:ln w="12700">
            <a:solidFill>
              <a:srgbClr val="000000"/>
            </a:solidFill>
            <a:prstDash val="solid"/>
          </a:ln>
        </p:spPr>
      </p:sp>
      <p:sp>
        <p:nvSpPr>
          <p:cNvPr id="11" name="Text 9"/>
          <p:cNvSpPr/>
          <p:nvPr/>
        </p:nvSpPr>
        <p:spPr>
          <a:xfrm>
            <a:off x="6675120" y="1188720"/>
            <a:ext cx="1828800" cy="731520"/>
          </a:xfrm>
          <a:prstGeom prst="rect">
            <a:avLst/>
          </a:prstGeom>
          <a:noFill/>
          <a:ln/>
        </p:spPr>
        <p:txBody>
          <a:bodyPr wrap="square" rtlCol="0" anchor="ctr"/>
          <a:lstStyle/>
          <a:p>
            <a:pPr marL="0" indent="0" algn="ctr">
              <a:buNone/>
            </a:pPr>
            <a:r>
              <a:rPr lang="en-US" sz="1300" b="1" dirty="0">
                <a:solidFill>
                  <a:srgbClr val="000000"/>
                </a:solidFill>
                <a:latin typeface="Times New Roman" panose="02020603050405020304" pitchFamily="18" charset="0"/>
                <a:ea typeface="Calibri" pitchFamily="34" charset="-122"/>
                <a:cs typeface="Times New Roman" panose="02020603050405020304" pitchFamily="18" charset="0"/>
              </a:rPr>
              <a:t>TPA</a:t>
            </a:r>
            <a:endParaRPr lang="en-US" sz="1300" dirty="0">
              <a:latin typeface="Times New Roman" panose="02020603050405020304" pitchFamily="18" charset="0"/>
              <a:cs typeface="Times New Roman" panose="02020603050405020304" pitchFamily="18" charset="0"/>
            </a:endParaRPr>
          </a:p>
        </p:txBody>
      </p:sp>
      <p:sp>
        <p:nvSpPr>
          <p:cNvPr id="12" name="Shape 10"/>
          <p:cNvSpPr/>
          <p:nvPr/>
        </p:nvSpPr>
        <p:spPr>
          <a:xfrm>
            <a:off x="3657600" y="2468880"/>
            <a:ext cx="2560320" cy="731520"/>
          </a:xfrm>
          <a:prstGeom prst="rect">
            <a:avLst/>
          </a:prstGeom>
          <a:solidFill>
            <a:srgbClr val="FFFFFF"/>
          </a:solidFill>
          <a:ln w="12700">
            <a:solidFill>
              <a:srgbClr val="000000"/>
            </a:solidFill>
            <a:prstDash val="solid"/>
          </a:ln>
        </p:spPr>
      </p:sp>
      <p:sp>
        <p:nvSpPr>
          <p:cNvPr id="13" name="Text 11"/>
          <p:cNvSpPr/>
          <p:nvPr/>
        </p:nvSpPr>
        <p:spPr>
          <a:xfrm>
            <a:off x="3657600" y="2468880"/>
            <a:ext cx="2560320" cy="731520"/>
          </a:xfrm>
          <a:prstGeom prst="rect">
            <a:avLst/>
          </a:prstGeom>
          <a:noFill/>
          <a:ln/>
        </p:spPr>
        <p:txBody>
          <a:bodyPr wrap="square" rtlCol="0" anchor="ctr"/>
          <a:lstStyle/>
          <a:p>
            <a:pPr marL="0" indent="0" algn="ctr">
              <a:buNone/>
            </a:pPr>
            <a:r>
              <a:rPr lang="en-US" sz="1300" b="1" dirty="0">
                <a:solidFill>
                  <a:srgbClr val="000000"/>
                </a:solidFill>
                <a:latin typeface="Times New Roman" panose="02020603050405020304" pitchFamily="18" charset="0"/>
                <a:ea typeface="Calibri" pitchFamily="34" charset="-122"/>
                <a:cs typeface="Times New Roman" panose="02020603050405020304" pitchFamily="18" charset="0"/>
              </a:rPr>
              <a:t>Database Server</a:t>
            </a:r>
            <a:endParaRPr lang="en-US" sz="1300" dirty="0">
              <a:latin typeface="Times New Roman" panose="02020603050405020304" pitchFamily="18" charset="0"/>
              <a:cs typeface="Times New Roman" panose="02020603050405020304" pitchFamily="18" charset="0"/>
            </a:endParaRPr>
          </a:p>
        </p:txBody>
      </p:sp>
      <p:sp>
        <p:nvSpPr>
          <p:cNvPr id="14" name="Shape 12"/>
          <p:cNvSpPr/>
          <p:nvPr/>
        </p:nvSpPr>
        <p:spPr>
          <a:xfrm>
            <a:off x="640080" y="2468880"/>
            <a:ext cx="2286000" cy="731520"/>
          </a:xfrm>
          <a:prstGeom prst="rect">
            <a:avLst/>
          </a:prstGeom>
          <a:solidFill>
            <a:srgbClr val="FFFFFF"/>
          </a:solidFill>
          <a:ln w="12700">
            <a:solidFill>
              <a:srgbClr val="000000"/>
            </a:solidFill>
            <a:prstDash val="solid"/>
          </a:ln>
        </p:spPr>
      </p:sp>
      <p:sp>
        <p:nvSpPr>
          <p:cNvPr id="15" name="Text 13"/>
          <p:cNvSpPr/>
          <p:nvPr/>
        </p:nvSpPr>
        <p:spPr>
          <a:xfrm>
            <a:off x="640080" y="2468880"/>
            <a:ext cx="2286000" cy="731520"/>
          </a:xfrm>
          <a:prstGeom prst="rect">
            <a:avLst/>
          </a:prstGeom>
          <a:noFill/>
          <a:ln/>
        </p:spPr>
        <p:txBody>
          <a:bodyPr wrap="square" rtlCol="0" anchor="ctr"/>
          <a:lstStyle/>
          <a:p>
            <a:pPr marL="0" indent="0" algn="ctr">
              <a:buNone/>
            </a:pPr>
            <a:r>
              <a:rPr lang="en-US" sz="1300" b="1" dirty="0">
                <a:solidFill>
                  <a:srgbClr val="000000"/>
                </a:solidFill>
                <a:latin typeface="Times New Roman" panose="02020603050405020304" pitchFamily="18" charset="0"/>
                <a:ea typeface="Calibri" pitchFamily="34" charset="-122"/>
                <a:cs typeface="Times New Roman" panose="02020603050405020304" pitchFamily="18" charset="0"/>
              </a:rPr>
              <a:t>Admin Module</a:t>
            </a:r>
            <a:endParaRPr lang="en-US" sz="1300" dirty="0">
              <a:latin typeface="Times New Roman" panose="02020603050405020304" pitchFamily="18" charset="0"/>
              <a:cs typeface="Times New Roman" panose="02020603050405020304" pitchFamily="18" charset="0"/>
            </a:endParaRPr>
          </a:p>
        </p:txBody>
      </p:sp>
      <p:sp>
        <p:nvSpPr>
          <p:cNvPr id="16" name="Shape 14"/>
          <p:cNvSpPr/>
          <p:nvPr/>
        </p:nvSpPr>
        <p:spPr>
          <a:xfrm>
            <a:off x="6675120" y="2468880"/>
            <a:ext cx="1828800" cy="731520"/>
          </a:xfrm>
          <a:prstGeom prst="rect">
            <a:avLst/>
          </a:prstGeom>
          <a:solidFill>
            <a:srgbClr val="FFFFFF"/>
          </a:solidFill>
          <a:ln w="12700">
            <a:solidFill>
              <a:srgbClr val="000000"/>
            </a:solidFill>
            <a:prstDash val="solid"/>
          </a:ln>
        </p:spPr>
      </p:sp>
      <p:sp>
        <p:nvSpPr>
          <p:cNvPr id="17" name="Text 15"/>
          <p:cNvSpPr/>
          <p:nvPr/>
        </p:nvSpPr>
        <p:spPr>
          <a:xfrm>
            <a:off x="6675120" y="2468880"/>
            <a:ext cx="1828800" cy="731520"/>
          </a:xfrm>
          <a:prstGeom prst="rect">
            <a:avLst/>
          </a:prstGeom>
          <a:noFill/>
          <a:ln/>
        </p:spPr>
        <p:txBody>
          <a:bodyPr wrap="square" rtlCol="0" anchor="ctr"/>
          <a:lstStyle/>
          <a:p>
            <a:pPr marL="0" indent="0" algn="ctr">
              <a:buNone/>
            </a:pPr>
            <a:r>
              <a:rPr lang="en-US" sz="1300" b="1" dirty="0">
                <a:solidFill>
                  <a:srgbClr val="000000"/>
                </a:solidFill>
                <a:latin typeface="Times New Roman" panose="02020603050405020304" pitchFamily="18" charset="0"/>
                <a:ea typeface="Calibri" pitchFamily="34" charset="-122"/>
                <a:cs typeface="Times New Roman" panose="02020603050405020304" pitchFamily="18" charset="0"/>
              </a:rPr>
              <a:t>Cloud Storage</a:t>
            </a:r>
            <a:endParaRPr lang="en-US" sz="1300" dirty="0">
              <a:latin typeface="Times New Roman" panose="02020603050405020304" pitchFamily="18" charset="0"/>
              <a:cs typeface="Times New Roman" panose="02020603050405020304" pitchFamily="18" charset="0"/>
            </a:endParaRPr>
          </a:p>
        </p:txBody>
      </p:sp>
      <p:sp>
        <p:nvSpPr>
          <p:cNvPr id="18" name="Shape 16"/>
          <p:cNvSpPr/>
          <p:nvPr/>
        </p:nvSpPr>
        <p:spPr>
          <a:xfrm>
            <a:off x="2468880" y="1554480"/>
            <a:ext cx="1188720" cy="0"/>
          </a:xfrm>
          <a:prstGeom prst="line">
            <a:avLst/>
          </a:prstGeom>
          <a:noFill/>
          <a:ln w="12700">
            <a:solidFill>
              <a:srgbClr val="000000"/>
            </a:solidFill>
            <a:prstDash val="solid"/>
          </a:ln>
        </p:spPr>
      </p:sp>
      <p:sp>
        <p:nvSpPr>
          <p:cNvPr id="19" name="Shape 17"/>
          <p:cNvSpPr/>
          <p:nvPr/>
        </p:nvSpPr>
        <p:spPr>
          <a:xfrm>
            <a:off x="6217920" y="1554480"/>
            <a:ext cx="457200" cy="0"/>
          </a:xfrm>
          <a:prstGeom prst="line">
            <a:avLst/>
          </a:prstGeom>
          <a:noFill/>
          <a:ln w="12700">
            <a:solidFill>
              <a:srgbClr val="000000"/>
            </a:solidFill>
            <a:prstDash val="solid"/>
          </a:ln>
        </p:spPr>
      </p:sp>
      <p:sp>
        <p:nvSpPr>
          <p:cNvPr id="20" name="Shape 18"/>
          <p:cNvSpPr/>
          <p:nvPr/>
        </p:nvSpPr>
        <p:spPr>
          <a:xfrm>
            <a:off x="4937760" y="1920240"/>
            <a:ext cx="0" cy="548640"/>
          </a:xfrm>
          <a:prstGeom prst="line">
            <a:avLst/>
          </a:prstGeom>
          <a:noFill/>
          <a:ln w="12700">
            <a:solidFill>
              <a:srgbClr val="000000"/>
            </a:solidFill>
            <a:prstDash val="solid"/>
          </a:ln>
        </p:spPr>
      </p:sp>
      <p:sp>
        <p:nvSpPr>
          <p:cNvPr id="21" name="Shape 19"/>
          <p:cNvSpPr/>
          <p:nvPr/>
        </p:nvSpPr>
        <p:spPr>
          <a:xfrm>
            <a:off x="2926080" y="2834640"/>
            <a:ext cx="731520" cy="0"/>
          </a:xfrm>
          <a:prstGeom prst="line">
            <a:avLst/>
          </a:prstGeom>
          <a:noFill/>
          <a:ln w="12700">
            <a:solidFill>
              <a:srgbClr val="000000"/>
            </a:solidFill>
            <a:prstDash val="solid"/>
          </a:ln>
        </p:spPr>
      </p:sp>
      <p:sp>
        <p:nvSpPr>
          <p:cNvPr id="22" name="Shape 20"/>
          <p:cNvSpPr/>
          <p:nvPr/>
        </p:nvSpPr>
        <p:spPr>
          <a:xfrm>
            <a:off x="6217920" y="2834640"/>
            <a:ext cx="457200" cy="0"/>
          </a:xfrm>
          <a:prstGeom prst="line">
            <a:avLst/>
          </a:prstGeom>
          <a:noFill/>
          <a:ln w="12700">
            <a:solidFill>
              <a:srgbClr val="000000"/>
            </a:solidFill>
            <a:prstDash val="solid"/>
          </a:ln>
        </p:spPr>
      </p:sp>
      <p:pic>
        <p:nvPicPr>
          <p:cNvPr id="23" name="Google Shape;95;p1" descr="Thiagarajar College (@ThiagarajarArts) | Twitter"/>
          <p:cNvPicPr preferRelativeResize="0"/>
          <p:nvPr/>
        </p:nvPicPr>
        <p:blipFill rotWithShape="1">
          <a:blip r:embed="rId3">
            <a:alphaModFix/>
          </a:blip>
          <a:srcRect/>
          <a:stretch/>
        </p:blipFill>
        <p:spPr>
          <a:xfrm>
            <a:off x="4122682" y="68581"/>
            <a:ext cx="512379" cy="380736"/>
          </a:xfrm>
          <a:prstGeom prst="rect">
            <a:avLst/>
          </a:prstGeom>
          <a:noFill/>
          <a:ln>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378372"/>
            <a:ext cx="8412480" cy="600036"/>
          </a:xfrm>
          <a:prstGeom prst="rect">
            <a:avLst/>
          </a:prstGeom>
          <a:noFill/>
          <a:ln/>
        </p:spPr>
        <p:txBody>
          <a:bodyPr wrap="square" rtlCol="0" anchor="ctr"/>
          <a:lstStyle/>
          <a:p>
            <a:pPr marL="0" indent="0">
              <a:buNone/>
            </a:pPr>
            <a:r>
              <a:rPr lang="en-US" sz="2800" b="1" u="sng" dirty="0">
                <a:solidFill>
                  <a:srgbClr val="000000"/>
                </a:solidFill>
                <a:latin typeface="Times New Roman" panose="02020603050405020304" pitchFamily="18" charset="0"/>
                <a:ea typeface="Calibri" pitchFamily="34" charset="-122"/>
                <a:cs typeface="Times New Roman" panose="02020603050405020304" pitchFamily="18" charset="0"/>
              </a:rPr>
              <a:t>LIST OF MODULES</a:t>
            </a:r>
            <a:endParaRPr lang="en-US" sz="2800" dirty="0">
              <a:latin typeface="Times New Roman" panose="02020603050405020304" pitchFamily="18" charset="0"/>
              <a:cs typeface="Times New Roman" panose="02020603050405020304" pitchFamily="18" charset="0"/>
            </a:endParaRPr>
          </a:p>
        </p:txBody>
      </p:sp>
      <p:sp>
        <p:nvSpPr>
          <p:cNvPr id="3" name="Text 1"/>
          <p:cNvSpPr/>
          <p:nvPr/>
        </p:nvSpPr>
        <p:spPr>
          <a:xfrm>
            <a:off x="274320" y="4873752"/>
            <a:ext cx="1371600" cy="201168"/>
          </a:xfrm>
          <a:prstGeom prst="rect">
            <a:avLst/>
          </a:prstGeom>
          <a:noFill/>
          <a:ln/>
        </p:spPr>
        <p:txBody>
          <a:bodyPr wrap="square" rtlCol="0" anchor="ctr"/>
          <a:lstStyle/>
          <a:p>
            <a:r>
              <a:rPr lang="en-US" sz="900" dirty="0">
                <a:solidFill>
                  <a:schemeClr val="bg1">
                    <a:lumMod val="50000"/>
                  </a:schemeClr>
                </a:solidFill>
                <a:latin typeface="Calibri" pitchFamily="34" charset="0"/>
                <a:ea typeface="Calibri" pitchFamily="34" charset="-122"/>
                <a:cs typeface="Calibri" pitchFamily="34" charset="-120"/>
              </a:rPr>
              <a:t>11/03/2026</a:t>
            </a:r>
            <a:endParaRPr lang="en-US" sz="900" dirty="0">
              <a:solidFill>
                <a:schemeClr val="bg1">
                  <a:lumMod val="50000"/>
                </a:schemeClr>
              </a:solidFill>
            </a:endParaRPr>
          </a:p>
        </p:txBody>
      </p:sp>
      <p:sp>
        <p:nvSpPr>
          <p:cNvPr id="4" name="Text 2"/>
          <p:cNvSpPr/>
          <p:nvPr/>
        </p:nvSpPr>
        <p:spPr>
          <a:xfrm>
            <a:off x="1828800" y="4873752"/>
            <a:ext cx="5486400" cy="201168"/>
          </a:xfrm>
          <a:prstGeom prst="rect">
            <a:avLst/>
          </a:prstGeom>
          <a:noFill/>
          <a:ln/>
        </p:spPr>
        <p:txBody>
          <a:bodyPr wrap="square" rtlCol="0" anchor="ctr"/>
          <a:lstStyle/>
          <a:p>
            <a:pPr lvl="0" algn="ctr"/>
            <a:r>
              <a:rPr lang="en-US" sz="900" dirty="0">
                <a:solidFill>
                  <a:schemeClr val="bg1">
                    <a:lumMod val="50000"/>
                  </a:schemeClr>
                </a:solidFill>
              </a:rPr>
              <a:t>PCS24PJ41 Project - Second Review Presentation 2025- 2026</a:t>
            </a:r>
          </a:p>
        </p:txBody>
      </p:sp>
      <p:sp>
        <p:nvSpPr>
          <p:cNvPr id="5" name="Text 3"/>
          <p:cNvSpPr/>
          <p:nvPr/>
        </p:nvSpPr>
        <p:spPr>
          <a:xfrm>
            <a:off x="8686800" y="4873752"/>
            <a:ext cx="365760" cy="201168"/>
          </a:xfrm>
          <a:prstGeom prst="rect">
            <a:avLst/>
          </a:prstGeom>
          <a:noFill/>
          <a:ln/>
        </p:spPr>
        <p:txBody>
          <a:bodyPr wrap="square" rtlCol="0" anchor="ctr"/>
          <a:lstStyle/>
          <a:p>
            <a:pPr marL="0" indent="0" algn="r">
              <a:buNone/>
            </a:pPr>
            <a:r>
              <a:rPr lang="en-US" sz="900" dirty="0">
                <a:solidFill>
                  <a:srgbClr val="000000"/>
                </a:solidFill>
                <a:latin typeface="Calibri" pitchFamily="34" charset="0"/>
                <a:ea typeface="Calibri" pitchFamily="34" charset="-122"/>
                <a:cs typeface="Calibri" pitchFamily="34" charset="-120"/>
              </a:rPr>
              <a:t>7</a:t>
            </a:r>
            <a:endParaRPr lang="en-US" sz="900" dirty="0"/>
          </a:p>
        </p:txBody>
      </p:sp>
      <p:sp>
        <p:nvSpPr>
          <p:cNvPr id="6" name="Text 4"/>
          <p:cNvSpPr/>
          <p:nvPr/>
        </p:nvSpPr>
        <p:spPr>
          <a:xfrm>
            <a:off x="457200" y="1005840"/>
            <a:ext cx="8229600" cy="292608"/>
          </a:xfrm>
          <a:prstGeom prst="rect">
            <a:avLst/>
          </a:prstGeom>
          <a:noFill/>
          <a:ln/>
        </p:spPr>
        <p:txBody>
          <a:bodyPr wrap="square" rtlCol="0" anchor="ctr"/>
          <a:lstStyle/>
          <a:p>
            <a:pPr marL="0" indent="0">
              <a:buNone/>
            </a:pPr>
            <a:r>
              <a:rPr lang="en-US" sz="1600" b="1" dirty="0">
                <a:solidFill>
                  <a:srgbClr val="000000"/>
                </a:solidFill>
                <a:latin typeface="Times New Roman" panose="02020603050405020304" pitchFamily="18" charset="0"/>
                <a:ea typeface="Calibri" pitchFamily="34" charset="-122"/>
                <a:cs typeface="Times New Roman" panose="02020603050405020304" pitchFamily="18" charset="0"/>
              </a:rPr>
              <a:t>Admin Module</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457200" y="1325880"/>
            <a:ext cx="8229600" cy="822960"/>
          </a:xfrm>
          <a:prstGeom prst="rect">
            <a:avLst/>
          </a:prstGeom>
          <a:noFill/>
          <a:ln/>
        </p:spPr>
        <p:txBody>
          <a:bodyPr wrap="square" rtlCol="0" anchor="t"/>
          <a:lstStyle/>
          <a:p>
            <a:pPr marL="342900" indent="-342900">
              <a:spcAft>
                <a:spcPts val="6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Only valid administrators can access the system based on assigned access rights.</a:t>
            </a:r>
            <a:endParaRPr lang="en-US" sz="1400" dirty="0">
              <a:latin typeface="Times New Roman" panose="02020603050405020304" pitchFamily="18" charset="0"/>
              <a:cs typeface="Times New Roman" panose="02020603050405020304" pitchFamily="18" charset="0"/>
            </a:endParaRPr>
          </a:p>
          <a:p>
            <a:pPr marL="342900" indent="-342900">
              <a:spcAft>
                <a:spcPts val="6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Admin monitors user activities, manages file permissions, and controls the entire workflow.</a:t>
            </a:r>
            <a:endParaRPr lang="en-US" sz="1400" dirty="0">
              <a:latin typeface="Times New Roman" panose="02020603050405020304" pitchFamily="18" charset="0"/>
              <a:cs typeface="Times New Roman" panose="02020603050405020304" pitchFamily="18" charset="0"/>
            </a:endParaRPr>
          </a:p>
        </p:txBody>
      </p:sp>
      <p:sp>
        <p:nvSpPr>
          <p:cNvPr id="8" name="Text 6"/>
          <p:cNvSpPr/>
          <p:nvPr/>
        </p:nvSpPr>
        <p:spPr>
          <a:xfrm>
            <a:off x="457200" y="2286000"/>
            <a:ext cx="8229600" cy="292608"/>
          </a:xfrm>
          <a:prstGeom prst="rect">
            <a:avLst/>
          </a:prstGeom>
          <a:noFill/>
          <a:ln/>
        </p:spPr>
        <p:txBody>
          <a:bodyPr wrap="square" rtlCol="0" anchor="ctr"/>
          <a:lstStyle/>
          <a:p>
            <a:pPr marL="0" indent="0">
              <a:buNone/>
            </a:pPr>
            <a:r>
              <a:rPr lang="en-US" sz="1600" b="1" dirty="0">
                <a:solidFill>
                  <a:srgbClr val="000000"/>
                </a:solidFill>
                <a:latin typeface="Times New Roman" panose="02020603050405020304" pitchFamily="18" charset="0"/>
                <a:ea typeface="Calibri" pitchFamily="34" charset="-122"/>
                <a:cs typeface="Times New Roman" panose="02020603050405020304" pitchFamily="18" charset="0"/>
              </a:rPr>
              <a:t>User Details Module</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457200" y="2606040"/>
            <a:ext cx="8229600" cy="1005840"/>
          </a:xfrm>
          <a:prstGeom prst="rect">
            <a:avLst/>
          </a:prstGeom>
          <a:noFill/>
          <a:ln/>
        </p:spPr>
        <p:txBody>
          <a:bodyPr wrap="square" rtlCol="0" anchor="t"/>
          <a:lstStyle/>
          <a:p>
            <a:pPr marL="342900" indent="-342900">
              <a:spcAft>
                <a:spcPts val="6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Includes self-registration and login forms for user account creation.</a:t>
            </a:r>
            <a:endParaRPr lang="en-US" sz="1400" dirty="0">
              <a:latin typeface="Times New Roman" panose="02020603050405020304" pitchFamily="18" charset="0"/>
              <a:cs typeface="Times New Roman" panose="02020603050405020304" pitchFamily="18" charset="0"/>
            </a:endParaRPr>
          </a:p>
          <a:p>
            <a:pPr marL="342900" indent="-342900">
              <a:spcAft>
                <a:spcPts val="6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After logging in, users can send file access requests to the administrator.</a:t>
            </a:r>
            <a:endParaRPr lang="en-US" sz="1400" dirty="0">
              <a:latin typeface="Times New Roman" panose="02020603050405020304" pitchFamily="18" charset="0"/>
              <a:cs typeface="Times New Roman" panose="02020603050405020304" pitchFamily="18" charset="0"/>
            </a:endParaRPr>
          </a:p>
          <a:p>
            <a:pPr marL="342900" indent="-342900">
              <a:spcAft>
                <a:spcPts val="6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Users can view their uploaded files and check the status of their access requests</a:t>
            </a:r>
            <a:r>
              <a:rPr lang="en-US" sz="1400" dirty="0">
                <a:solidFill>
                  <a:srgbClr val="000000"/>
                </a:solidFill>
                <a:latin typeface="Calibri" pitchFamily="34" charset="0"/>
                <a:ea typeface="Calibri" pitchFamily="34" charset="-122"/>
                <a:cs typeface="Calibri" pitchFamily="34" charset="-120"/>
              </a:rPr>
              <a:t>.</a:t>
            </a:r>
            <a:endParaRPr lang="en-US" sz="1400" dirty="0"/>
          </a:p>
        </p:txBody>
      </p:sp>
      <p:pic>
        <p:nvPicPr>
          <p:cNvPr id="10" name="Google Shape;95;p1" descr="Thiagarajar College (@ThiagarajarArts) | Twitter"/>
          <p:cNvPicPr preferRelativeResize="0"/>
          <p:nvPr/>
        </p:nvPicPr>
        <p:blipFill rotWithShape="1">
          <a:blip r:embed="rId3">
            <a:alphaModFix/>
          </a:blip>
          <a:srcRect/>
          <a:stretch/>
        </p:blipFill>
        <p:spPr>
          <a:xfrm>
            <a:off x="4122682" y="68580"/>
            <a:ext cx="512379" cy="420151"/>
          </a:xfrm>
          <a:prstGeom prst="rect">
            <a:avLst/>
          </a:prstGeom>
          <a:noFill/>
          <a:ln>
            <a:noFill/>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346840"/>
            <a:ext cx="8412480" cy="658999"/>
          </a:xfrm>
          <a:prstGeom prst="rect">
            <a:avLst/>
          </a:prstGeom>
          <a:noFill/>
          <a:ln/>
        </p:spPr>
        <p:txBody>
          <a:bodyPr wrap="square" rtlCol="0" anchor="ctr"/>
          <a:lstStyle/>
          <a:p>
            <a:pPr marL="0" indent="0">
              <a:buNone/>
            </a:pPr>
            <a:r>
              <a:rPr lang="en-US" sz="2800" b="1" u="sng" dirty="0">
                <a:solidFill>
                  <a:srgbClr val="000000"/>
                </a:solidFill>
                <a:latin typeface="Times New Roman" panose="02020603050405020304" pitchFamily="18" charset="0"/>
                <a:ea typeface="Calibri" pitchFamily="34" charset="-122"/>
                <a:cs typeface="Times New Roman" panose="02020603050405020304" pitchFamily="18" charset="0"/>
              </a:rPr>
              <a:t>LIST OF MODULES</a:t>
            </a:r>
            <a:endParaRPr lang="en-US" sz="2800" dirty="0">
              <a:latin typeface="Times New Roman" panose="02020603050405020304" pitchFamily="18" charset="0"/>
              <a:cs typeface="Times New Roman" panose="02020603050405020304" pitchFamily="18" charset="0"/>
            </a:endParaRPr>
          </a:p>
        </p:txBody>
      </p:sp>
      <p:sp>
        <p:nvSpPr>
          <p:cNvPr id="3" name="Text 1"/>
          <p:cNvSpPr/>
          <p:nvPr/>
        </p:nvSpPr>
        <p:spPr>
          <a:xfrm>
            <a:off x="274320" y="4873752"/>
            <a:ext cx="1371600" cy="201168"/>
          </a:xfrm>
          <a:prstGeom prst="rect">
            <a:avLst/>
          </a:prstGeom>
          <a:noFill/>
          <a:ln/>
        </p:spPr>
        <p:txBody>
          <a:bodyPr wrap="square" rtlCol="0" anchor="ctr"/>
          <a:lstStyle/>
          <a:p>
            <a:r>
              <a:rPr lang="en-US" sz="900" dirty="0">
                <a:solidFill>
                  <a:schemeClr val="bg1">
                    <a:lumMod val="50000"/>
                  </a:schemeClr>
                </a:solidFill>
                <a:latin typeface="Calibri" pitchFamily="34" charset="0"/>
                <a:ea typeface="Calibri" pitchFamily="34" charset="-122"/>
                <a:cs typeface="Calibri" pitchFamily="34" charset="-120"/>
              </a:rPr>
              <a:t>11/03/2026</a:t>
            </a:r>
            <a:endParaRPr lang="en-US" sz="900" dirty="0">
              <a:solidFill>
                <a:schemeClr val="bg1">
                  <a:lumMod val="50000"/>
                </a:schemeClr>
              </a:solidFill>
            </a:endParaRPr>
          </a:p>
        </p:txBody>
      </p:sp>
      <p:sp>
        <p:nvSpPr>
          <p:cNvPr id="4" name="Text 2"/>
          <p:cNvSpPr/>
          <p:nvPr/>
        </p:nvSpPr>
        <p:spPr>
          <a:xfrm>
            <a:off x="1828800" y="4873752"/>
            <a:ext cx="5486400" cy="201168"/>
          </a:xfrm>
          <a:prstGeom prst="rect">
            <a:avLst/>
          </a:prstGeom>
          <a:noFill/>
          <a:ln/>
        </p:spPr>
        <p:txBody>
          <a:bodyPr wrap="square" rtlCol="0" anchor="ctr"/>
          <a:lstStyle/>
          <a:p>
            <a:pPr lvl="0" algn="ctr"/>
            <a:r>
              <a:rPr lang="en-US" sz="900" dirty="0">
                <a:solidFill>
                  <a:schemeClr val="bg1">
                    <a:lumMod val="50000"/>
                  </a:schemeClr>
                </a:solidFill>
              </a:rPr>
              <a:t>PCS24PJ41 Project - Second Review Presentation 2025- 2026</a:t>
            </a:r>
          </a:p>
        </p:txBody>
      </p:sp>
      <p:sp>
        <p:nvSpPr>
          <p:cNvPr id="5" name="Text 3"/>
          <p:cNvSpPr/>
          <p:nvPr/>
        </p:nvSpPr>
        <p:spPr>
          <a:xfrm>
            <a:off x="8686800" y="4873752"/>
            <a:ext cx="365760" cy="201168"/>
          </a:xfrm>
          <a:prstGeom prst="rect">
            <a:avLst/>
          </a:prstGeom>
          <a:noFill/>
          <a:ln/>
        </p:spPr>
        <p:txBody>
          <a:bodyPr wrap="square" rtlCol="0" anchor="ctr"/>
          <a:lstStyle/>
          <a:p>
            <a:pPr marL="0" indent="0" algn="r">
              <a:buNone/>
            </a:pPr>
            <a:r>
              <a:rPr lang="en-US" sz="900" dirty="0">
                <a:solidFill>
                  <a:srgbClr val="000000"/>
                </a:solidFill>
                <a:latin typeface="Calibri" pitchFamily="34" charset="0"/>
                <a:ea typeface="Calibri" pitchFamily="34" charset="-122"/>
                <a:cs typeface="Calibri" pitchFamily="34" charset="-120"/>
              </a:rPr>
              <a:t>8</a:t>
            </a:r>
            <a:endParaRPr lang="en-US" sz="900" dirty="0"/>
          </a:p>
        </p:txBody>
      </p:sp>
      <p:sp>
        <p:nvSpPr>
          <p:cNvPr id="6" name="Text 4"/>
          <p:cNvSpPr/>
          <p:nvPr/>
        </p:nvSpPr>
        <p:spPr>
          <a:xfrm>
            <a:off x="457200" y="1005840"/>
            <a:ext cx="8229600" cy="292608"/>
          </a:xfrm>
          <a:prstGeom prst="rect">
            <a:avLst/>
          </a:prstGeom>
          <a:noFill/>
          <a:ln/>
        </p:spPr>
        <p:txBody>
          <a:bodyPr wrap="square" rtlCol="0" anchor="ctr"/>
          <a:lstStyle/>
          <a:p>
            <a:pPr marL="0" indent="0">
              <a:buNone/>
            </a:pPr>
            <a:r>
              <a:rPr lang="en-US" sz="1600" b="1" dirty="0">
                <a:solidFill>
                  <a:srgbClr val="000000"/>
                </a:solidFill>
                <a:latin typeface="Times New Roman" panose="02020603050405020304" pitchFamily="18" charset="0"/>
                <a:ea typeface="Calibri" pitchFamily="34" charset="-122"/>
                <a:cs typeface="Times New Roman" panose="02020603050405020304" pitchFamily="18" charset="0"/>
              </a:rPr>
              <a:t>Partition Split Module</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457200" y="1325880"/>
            <a:ext cx="8229600" cy="914400"/>
          </a:xfrm>
          <a:prstGeom prst="rect">
            <a:avLst/>
          </a:prstGeom>
          <a:noFill/>
          <a:ln/>
        </p:spPr>
        <p:txBody>
          <a:bodyPr wrap="square" rtlCol="0" anchor="t"/>
          <a:lstStyle/>
          <a:p>
            <a:pPr marL="342900" indent="-342900">
              <a:spcAft>
                <a:spcPts val="6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Users upload files; the system automatically splits the file into encrypted partitions.</a:t>
            </a:r>
            <a:endParaRPr lang="en-US" sz="1400" dirty="0">
              <a:latin typeface="Times New Roman" panose="02020603050405020304" pitchFamily="18" charset="0"/>
              <a:cs typeface="Times New Roman" panose="02020603050405020304" pitchFamily="18" charset="0"/>
            </a:endParaRPr>
          </a:p>
          <a:p>
            <a:pPr marL="342900" indent="-342900">
              <a:spcAft>
                <a:spcPts val="6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Each uploaded file is associated with an OTP key for additional access protection.</a:t>
            </a:r>
            <a:endParaRPr lang="en-US" sz="1400" dirty="0">
              <a:latin typeface="Times New Roman" panose="02020603050405020304" pitchFamily="18" charset="0"/>
              <a:cs typeface="Times New Roman" panose="02020603050405020304" pitchFamily="18" charset="0"/>
            </a:endParaRPr>
          </a:p>
          <a:p>
            <a:pPr marL="342900" indent="-342900">
              <a:spcAft>
                <a:spcPts val="6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Third parties cannot access the file without proper admin authorization</a:t>
            </a:r>
            <a:r>
              <a:rPr lang="en-US" sz="1400" dirty="0">
                <a:solidFill>
                  <a:srgbClr val="000000"/>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457200" y="2377440"/>
            <a:ext cx="8229600" cy="292608"/>
          </a:xfrm>
          <a:prstGeom prst="rect">
            <a:avLst/>
          </a:prstGeom>
          <a:noFill/>
          <a:ln/>
        </p:spPr>
        <p:txBody>
          <a:bodyPr wrap="square" rtlCol="0" anchor="ctr"/>
          <a:lstStyle/>
          <a:p>
            <a:pPr marL="0" indent="0">
              <a:buNone/>
            </a:pPr>
            <a:r>
              <a:rPr lang="en-US" sz="1600" b="1" dirty="0">
                <a:solidFill>
                  <a:srgbClr val="000000"/>
                </a:solidFill>
                <a:latin typeface="Times New Roman" panose="02020603050405020304" pitchFamily="18" charset="0"/>
                <a:ea typeface="Calibri" pitchFamily="34" charset="-122"/>
                <a:cs typeface="Times New Roman" panose="02020603050405020304" pitchFamily="18" charset="0"/>
              </a:rPr>
              <a:t>Send Request Module</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457200" y="2697480"/>
            <a:ext cx="8229600" cy="914400"/>
          </a:xfrm>
          <a:prstGeom prst="rect">
            <a:avLst/>
          </a:prstGeom>
          <a:noFill/>
          <a:ln/>
        </p:spPr>
        <p:txBody>
          <a:bodyPr wrap="square" rtlCol="0" anchor="t"/>
          <a:lstStyle/>
          <a:p>
            <a:pPr marL="342900" indent="-342900">
              <a:spcAft>
                <a:spcPts val="6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Allows users to request access to files stored in the system.</a:t>
            </a:r>
            <a:endParaRPr lang="en-US" sz="1400" dirty="0">
              <a:latin typeface="Times New Roman" panose="02020603050405020304" pitchFamily="18" charset="0"/>
              <a:cs typeface="Times New Roman" panose="02020603050405020304" pitchFamily="18" charset="0"/>
            </a:endParaRPr>
          </a:p>
          <a:p>
            <a:pPr marL="342900" indent="-342900">
              <a:spcAft>
                <a:spcPts val="6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If approved, administrator sends an OTP key to the user's registered email address.</a:t>
            </a:r>
            <a:endParaRPr lang="en-US" sz="1400" dirty="0">
              <a:latin typeface="Times New Roman" panose="02020603050405020304" pitchFamily="18" charset="0"/>
              <a:cs typeface="Times New Roman" panose="02020603050405020304" pitchFamily="18" charset="0"/>
            </a:endParaRPr>
          </a:p>
          <a:p>
            <a:pPr marL="342900" indent="-342900">
              <a:spcAft>
                <a:spcPts val="6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User uses the OTP to securely access or download the requested file.</a:t>
            </a:r>
            <a:endParaRPr lang="en-US" sz="1400" dirty="0">
              <a:latin typeface="Times New Roman" panose="02020603050405020304" pitchFamily="18" charset="0"/>
              <a:cs typeface="Times New Roman" panose="02020603050405020304" pitchFamily="18" charset="0"/>
            </a:endParaRPr>
          </a:p>
        </p:txBody>
      </p:sp>
      <p:pic>
        <p:nvPicPr>
          <p:cNvPr id="10" name="Google Shape;95;p1" descr="Thiagarajar College (@ThiagarajarArts) | Twitter"/>
          <p:cNvPicPr preferRelativeResize="0"/>
          <p:nvPr/>
        </p:nvPicPr>
        <p:blipFill rotWithShape="1">
          <a:blip r:embed="rId3">
            <a:alphaModFix/>
          </a:blip>
          <a:srcRect/>
          <a:stretch/>
        </p:blipFill>
        <p:spPr>
          <a:xfrm>
            <a:off x="4122682" y="68580"/>
            <a:ext cx="512379" cy="420151"/>
          </a:xfrm>
          <a:prstGeom prst="rect">
            <a:avLst/>
          </a:prstGeom>
          <a:noFill/>
          <a:ln>
            <a:noFill/>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449316"/>
            <a:ext cx="8412480" cy="556523"/>
          </a:xfrm>
          <a:prstGeom prst="rect">
            <a:avLst/>
          </a:prstGeom>
          <a:noFill/>
          <a:ln/>
        </p:spPr>
        <p:txBody>
          <a:bodyPr wrap="square" rtlCol="0" anchor="ctr"/>
          <a:lstStyle/>
          <a:p>
            <a:pPr marL="0" indent="0">
              <a:buNone/>
            </a:pPr>
            <a:r>
              <a:rPr lang="en-US" sz="2800" b="1" u="sng" dirty="0">
                <a:solidFill>
                  <a:srgbClr val="000000"/>
                </a:solidFill>
                <a:latin typeface="Times New Roman" panose="02020603050405020304" pitchFamily="18" charset="0"/>
                <a:ea typeface="Calibri" pitchFamily="34" charset="-122"/>
                <a:cs typeface="Times New Roman" panose="02020603050405020304" pitchFamily="18" charset="0"/>
              </a:rPr>
              <a:t>LIST OF MODULES</a:t>
            </a:r>
            <a:endParaRPr lang="en-US" sz="2800" dirty="0">
              <a:latin typeface="Times New Roman" panose="02020603050405020304" pitchFamily="18" charset="0"/>
              <a:cs typeface="Times New Roman" panose="02020603050405020304" pitchFamily="18" charset="0"/>
            </a:endParaRPr>
          </a:p>
        </p:txBody>
      </p:sp>
      <p:sp>
        <p:nvSpPr>
          <p:cNvPr id="3" name="Text 1"/>
          <p:cNvSpPr/>
          <p:nvPr/>
        </p:nvSpPr>
        <p:spPr>
          <a:xfrm>
            <a:off x="274320" y="4873752"/>
            <a:ext cx="1371600" cy="201168"/>
          </a:xfrm>
          <a:prstGeom prst="rect">
            <a:avLst/>
          </a:prstGeom>
          <a:noFill/>
          <a:ln/>
        </p:spPr>
        <p:txBody>
          <a:bodyPr wrap="square" rtlCol="0" anchor="ctr"/>
          <a:lstStyle/>
          <a:p>
            <a:r>
              <a:rPr lang="en-US" sz="900" dirty="0">
                <a:solidFill>
                  <a:schemeClr val="bg1">
                    <a:lumMod val="50000"/>
                  </a:schemeClr>
                </a:solidFill>
                <a:latin typeface="Calibri" pitchFamily="34" charset="0"/>
                <a:ea typeface="Calibri" pitchFamily="34" charset="-122"/>
                <a:cs typeface="Calibri" pitchFamily="34" charset="-120"/>
              </a:rPr>
              <a:t>11/03/2026</a:t>
            </a:r>
            <a:endParaRPr lang="en-US" sz="900" dirty="0">
              <a:solidFill>
                <a:schemeClr val="bg1">
                  <a:lumMod val="50000"/>
                </a:schemeClr>
              </a:solidFill>
            </a:endParaRPr>
          </a:p>
        </p:txBody>
      </p:sp>
      <p:sp>
        <p:nvSpPr>
          <p:cNvPr id="4" name="Text 2"/>
          <p:cNvSpPr/>
          <p:nvPr/>
        </p:nvSpPr>
        <p:spPr>
          <a:xfrm>
            <a:off x="1828800" y="4873752"/>
            <a:ext cx="5486400" cy="201168"/>
          </a:xfrm>
          <a:prstGeom prst="rect">
            <a:avLst/>
          </a:prstGeom>
          <a:noFill/>
          <a:ln/>
        </p:spPr>
        <p:txBody>
          <a:bodyPr wrap="square" rtlCol="0" anchor="ctr"/>
          <a:lstStyle/>
          <a:p>
            <a:pPr lvl="0" algn="ctr"/>
            <a:r>
              <a:rPr lang="en-US" sz="900" dirty="0">
                <a:solidFill>
                  <a:schemeClr val="bg1">
                    <a:lumMod val="50000"/>
                  </a:schemeClr>
                </a:solidFill>
              </a:rPr>
              <a:t>PCS24PJ41 Project - Second Review Presentation 2025- 2026</a:t>
            </a:r>
          </a:p>
        </p:txBody>
      </p:sp>
      <p:sp>
        <p:nvSpPr>
          <p:cNvPr id="5" name="Text 3"/>
          <p:cNvSpPr/>
          <p:nvPr/>
        </p:nvSpPr>
        <p:spPr>
          <a:xfrm>
            <a:off x="8686800" y="4873752"/>
            <a:ext cx="365760" cy="201168"/>
          </a:xfrm>
          <a:prstGeom prst="rect">
            <a:avLst/>
          </a:prstGeom>
          <a:noFill/>
          <a:ln/>
        </p:spPr>
        <p:txBody>
          <a:bodyPr wrap="square" rtlCol="0" anchor="ctr"/>
          <a:lstStyle/>
          <a:p>
            <a:pPr marL="0" indent="0" algn="r">
              <a:buNone/>
            </a:pPr>
            <a:r>
              <a:rPr lang="en-US" sz="900" dirty="0">
                <a:solidFill>
                  <a:srgbClr val="000000"/>
                </a:solidFill>
                <a:latin typeface="Calibri" pitchFamily="34" charset="0"/>
                <a:ea typeface="Calibri" pitchFamily="34" charset="-122"/>
                <a:cs typeface="Calibri" pitchFamily="34" charset="-120"/>
              </a:rPr>
              <a:t>9</a:t>
            </a:r>
            <a:endParaRPr lang="en-US" sz="900" dirty="0"/>
          </a:p>
        </p:txBody>
      </p:sp>
      <p:sp>
        <p:nvSpPr>
          <p:cNvPr id="6" name="Text 4"/>
          <p:cNvSpPr/>
          <p:nvPr/>
        </p:nvSpPr>
        <p:spPr>
          <a:xfrm>
            <a:off x="457200" y="1005840"/>
            <a:ext cx="8229600" cy="320040"/>
          </a:xfrm>
          <a:prstGeom prst="rect">
            <a:avLst/>
          </a:prstGeom>
          <a:noFill/>
          <a:ln/>
        </p:spPr>
        <p:txBody>
          <a:bodyPr wrap="square" rtlCol="0" anchor="ctr"/>
          <a:lstStyle/>
          <a:p>
            <a:pPr marL="0" indent="0">
              <a:buNone/>
            </a:pPr>
            <a:r>
              <a:rPr lang="en-US" sz="1600" b="1" dirty="0">
                <a:solidFill>
                  <a:srgbClr val="000000"/>
                </a:solidFill>
                <a:latin typeface="Times New Roman" panose="02020603050405020304" pitchFamily="18" charset="0"/>
                <a:ea typeface="Calibri" pitchFamily="34" charset="-122"/>
                <a:cs typeface="Times New Roman" panose="02020603050405020304" pitchFamily="18" charset="0"/>
              </a:rPr>
              <a:t>Storage Module</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457200" y="1325880"/>
            <a:ext cx="8229600" cy="914400"/>
          </a:xfrm>
          <a:prstGeom prst="rect">
            <a:avLst/>
          </a:prstGeom>
          <a:noFill/>
          <a:ln/>
        </p:spPr>
        <p:txBody>
          <a:bodyPr wrap="square" rtlCol="0" anchor="t"/>
          <a:lstStyle/>
          <a:p>
            <a:pPr marL="342900" indent="-342900">
              <a:spcAft>
                <a:spcPts val="6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Uses Trusted Computing Base (TCB) isolated by hypervisor from grid services.</a:t>
            </a:r>
            <a:endParaRPr lang="en-US" sz="1400" dirty="0">
              <a:latin typeface="Times New Roman" panose="02020603050405020304" pitchFamily="18" charset="0"/>
              <a:cs typeface="Times New Roman" panose="02020603050405020304" pitchFamily="18" charset="0"/>
            </a:endParaRPr>
          </a:p>
          <a:p>
            <a:pPr marL="342900" indent="-342900">
              <a:spcAft>
                <a:spcPts val="6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Protocols ensure data integrity protection, confidentiality, and job attestation.</a:t>
            </a:r>
            <a:endParaRPr lang="en-US" sz="1400" dirty="0">
              <a:latin typeface="Times New Roman" panose="02020603050405020304" pitchFamily="18" charset="0"/>
              <a:cs typeface="Times New Roman" panose="02020603050405020304" pitchFamily="18" charset="0"/>
            </a:endParaRPr>
          </a:p>
          <a:p>
            <a:pPr marL="342900" indent="-342900">
              <a:spcAft>
                <a:spcPts val="6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Clients verify the host, then interact with the security manager for file access.</a:t>
            </a:r>
            <a:endParaRPr lang="en-US" sz="1400" dirty="0">
              <a:latin typeface="Times New Roman" panose="02020603050405020304" pitchFamily="18" charset="0"/>
              <a:cs typeface="Times New Roman" panose="02020603050405020304" pitchFamily="18" charset="0"/>
            </a:endParaRPr>
          </a:p>
        </p:txBody>
      </p:sp>
      <p:sp>
        <p:nvSpPr>
          <p:cNvPr id="8" name="Text 6"/>
          <p:cNvSpPr/>
          <p:nvPr/>
        </p:nvSpPr>
        <p:spPr>
          <a:xfrm>
            <a:off x="457200" y="2377440"/>
            <a:ext cx="8229600" cy="292608"/>
          </a:xfrm>
          <a:prstGeom prst="rect">
            <a:avLst/>
          </a:prstGeom>
          <a:noFill/>
          <a:ln/>
        </p:spPr>
        <p:txBody>
          <a:bodyPr wrap="square" rtlCol="0" anchor="ctr"/>
          <a:lstStyle/>
          <a:p>
            <a:pPr marL="0" indent="0">
              <a:buNone/>
            </a:pPr>
            <a:r>
              <a:rPr lang="en-US" sz="1600" b="1" dirty="0">
                <a:solidFill>
                  <a:srgbClr val="000000"/>
                </a:solidFill>
                <a:latin typeface="Times New Roman" panose="02020603050405020304" pitchFamily="18" charset="0"/>
                <a:ea typeface="Calibri" pitchFamily="34" charset="-122"/>
                <a:cs typeface="Times New Roman" panose="02020603050405020304" pitchFamily="18" charset="0"/>
              </a:rPr>
              <a:t>TPA Module (Third Party Auditor)</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457200" y="2697480"/>
            <a:ext cx="8229600" cy="914400"/>
          </a:xfrm>
          <a:prstGeom prst="rect">
            <a:avLst/>
          </a:prstGeom>
          <a:noFill/>
          <a:ln/>
        </p:spPr>
        <p:txBody>
          <a:bodyPr wrap="square" rtlCol="0" anchor="t"/>
          <a:lstStyle/>
          <a:p>
            <a:pPr marL="342900" indent="-342900">
              <a:spcAft>
                <a:spcPts val="6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Every entity obtains a digital certificate from a trusted authority during initialization.</a:t>
            </a:r>
            <a:endParaRPr lang="en-US" sz="1400" dirty="0">
              <a:latin typeface="Times New Roman" panose="02020603050405020304" pitchFamily="18" charset="0"/>
              <a:cs typeface="Times New Roman" panose="02020603050405020304" pitchFamily="18" charset="0"/>
            </a:endParaRPr>
          </a:p>
          <a:p>
            <a:pPr marL="342900" indent="-342900">
              <a:spcAft>
                <a:spcPts val="6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TPA verifies system integrity and ensures secure communication within the cloud.</a:t>
            </a:r>
            <a:endParaRPr lang="en-US" sz="1400" dirty="0">
              <a:latin typeface="Times New Roman" panose="02020603050405020304" pitchFamily="18" charset="0"/>
              <a:cs typeface="Times New Roman" panose="02020603050405020304" pitchFamily="18" charset="0"/>
            </a:endParaRPr>
          </a:p>
          <a:p>
            <a:pPr marL="342900" indent="-342900">
              <a:spcAft>
                <a:spcPts val="6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Each domain manager and secure component is assigned a public and private key pair.</a:t>
            </a:r>
            <a:endParaRPr lang="en-US" sz="1400" dirty="0">
              <a:latin typeface="Times New Roman" panose="02020603050405020304" pitchFamily="18" charset="0"/>
              <a:cs typeface="Times New Roman" panose="02020603050405020304" pitchFamily="18" charset="0"/>
            </a:endParaRPr>
          </a:p>
        </p:txBody>
      </p:sp>
      <p:pic>
        <p:nvPicPr>
          <p:cNvPr id="10" name="Google Shape;95;p1" descr="Thiagarajar College (@ThiagarajarArts) | Twitter"/>
          <p:cNvPicPr preferRelativeResize="0"/>
          <p:nvPr/>
        </p:nvPicPr>
        <p:blipFill rotWithShape="1">
          <a:blip r:embed="rId3">
            <a:alphaModFix/>
          </a:blip>
          <a:srcRect/>
          <a:stretch/>
        </p:blipFill>
        <p:spPr>
          <a:xfrm>
            <a:off x="4122682" y="68580"/>
            <a:ext cx="512379" cy="420151"/>
          </a:xfrm>
          <a:prstGeom prst="rect">
            <a:avLst/>
          </a:prstGeom>
          <a:noFill/>
          <a:ln>
            <a:noFill/>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28599"/>
            <a:ext cx="8412480" cy="859221"/>
          </a:xfrm>
          <a:prstGeom prst="rect">
            <a:avLst/>
          </a:prstGeom>
          <a:noFill/>
          <a:ln/>
        </p:spPr>
        <p:txBody>
          <a:bodyPr wrap="square" rtlCol="0" anchor="ctr"/>
          <a:lstStyle/>
          <a:p>
            <a:pPr marL="0" indent="0">
              <a:buNone/>
            </a:pPr>
            <a:r>
              <a:rPr lang="en-US" sz="2800" b="1" u="sng" dirty="0">
                <a:solidFill>
                  <a:srgbClr val="000000"/>
                </a:solidFill>
                <a:latin typeface="Times New Roman" panose="02020603050405020304" pitchFamily="18" charset="0"/>
                <a:ea typeface="Calibri" pitchFamily="34" charset="-122"/>
                <a:cs typeface="Times New Roman" panose="02020603050405020304" pitchFamily="18" charset="0"/>
              </a:rPr>
              <a:t>RESULT COMPARISON / ANALYSIS</a:t>
            </a:r>
            <a:endParaRPr lang="en-US" sz="2800" dirty="0">
              <a:latin typeface="Times New Roman" panose="02020603050405020304" pitchFamily="18" charset="0"/>
              <a:cs typeface="Times New Roman" panose="02020603050405020304" pitchFamily="18" charset="0"/>
            </a:endParaRPr>
          </a:p>
        </p:txBody>
      </p:sp>
      <p:sp>
        <p:nvSpPr>
          <p:cNvPr id="3" name="Text 1"/>
          <p:cNvSpPr/>
          <p:nvPr/>
        </p:nvSpPr>
        <p:spPr>
          <a:xfrm>
            <a:off x="274320" y="4873752"/>
            <a:ext cx="1371600" cy="201168"/>
          </a:xfrm>
          <a:prstGeom prst="rect">
            <a:avLst/>
          </a:prstGeom>
          <a:noFill/>
          <a:ln/>
        </p:spPr>
        <p:txBody>
          <a:bodyPr wrap="square" rtlCol="0" anchor="ctr"/>
          <a:lstStyle/>
          <a:p>
            <a:r>
              <a:rPr lang="en-US" sz="900" dirty="0">
                <a:solidFill>
                  <a:schemeClr val="bg1">
                    <a:lumMod val="50000"/>
                  </a:schemeClr>
                </a:solidFill>
                <a:latin typeface="Calibri" pitchFamily="34" charset="0"/>
                <a:ea typeface="Calibri" pitchFamily="34" charset="-122"/>
                <a:cs typeface="Calibri" pitchFamily="34" charset="-120"/>
              </a:rPr>
              <a:t>11/03/2026</a:t>
            </a:r>
            <a:endParaRPr lang="en-US" sz="900" dirty="0">
              <a:solidFill>
                <a:schemeClr val="bg1">
                  <a:lumMod val="50000"/>
                </a:schemeClr>
              </a:solidFill>
            </a:endParaRPr>
          </a:p>
        </p:txBody>
      </p:sp>
      <p:sp>
        <p:nvSpPr>
          <p:cNvPr id="4" name="Text 2"/>
          <p:cNvSpPr/>
          <p:nvPr/>
        </p:nvSpPr>
        <p:spPr>
          <a:xfrm>
            <a:off x="1828800" y="4873752"/>
            <a:ext cx="5486400" cy="201168"/>
          </a:xfrm>
          <a:prstGeom prst="rect">
            <a:avLst/>
          </a:prstGeom>
          <a:noFill/>
          <a:ln/>
        </p:spPr>
        <p:txBody>
          <a:bodyPr wrap="square" rtlCol="0" anchor="ctr"/>
          <a:lstStyle/>
          <a:p>
            <a:pPr lvl="0" algn="ctr"/>
            <a:r>
              <a:rPr lang="en-US" sz="900" dirty="0">
                <a:solidFill>
                  <a:schemeClr val="bg1">
                    <a:lumMod val="50000"/>
                  </a:schemeClr>
                </a:solidFill>
              </a:rPr>
              <a:t>PCS24PJ41 Project - Second Review Presentation 2025- 2026</a:t>
            </a:r>
          </a:p>
        </p:txBody>
      </p:sp>
      <p:sp>
        <p:nvSpPr>
          <p:cNvPr id="5" name="Text 3"/>
          <p:cNvSpPr/>
          <p:nvPr/>
        </p:nvSpPr>
        <p:spPr>
          <a:xfrm>
            <a:off x="8686800" y="4873752"/>
            <a:ext cx="365760" cy="201168"/>
          </a:xfrm>
          <a:prstGeom prst="rect">
            <a:avLst/>
          </a:prstGeom>
          <a:noFill/>
          <a:ln/>
        </p:spPr>
        <p:txBody>
          <a:bodyPr wrap="square" rtlCol="0" anchor="ctr"/>
          <a:lstStyle/>
          <a:p>
            <a:pPr marL="0" indent="0" algn="r">
              <a:buNone/>
            </a:pPr>
            <a:r>
              <a:rPr lang="en-US" sz="900" dirty="0">
                <a:solidFill>
                  <a:srgbClr val="000000"/>
                </a:solidFill>
                <a:latin typeface="Calibri" pitchFamily="34" charset="0"/>
                <a:ea typeface="Calibri" pitchFamily="34" charset="-122"/>
                <a:cs typeface="Calibri" pitchFamily="34" charset="-120"/>
              </a:rPr>
              <a:t>10</a:t>
            </a:r>
            <a:endParaRPr lang="en-US" sz="900" dirty="0"/>
          </a:p>
        </p:txBody>
      </p:sp>
      <p:sp>
        <p:nvSpPr>
          <p:cNvPr id="6" name="Text 4"/>
          <p:cNvSpPr/>
          <p:nvPr/>
        </p:nvSpPr>
        <p:spPr>
          <a:xfrm>
            <a:off x="457200" y="960120"/>
            <a:ext cx="8229600" cy="320040"/>
          </a:xfrm>
          <a:prstGeom prst="rect">
            <a:avLst/>
          </a:prstGeom>
          <a:noFill/>
          <a:ln/>
        </p:spPr>
        <p:txBody>
          <a:bodyPr wrap="square" rtlCol="0" anchor="ctr"/>
          <a:lstStyle/>
          <a:p>
            <a:pPr marL="0" indent="0">
              <a:buNone/>
            </a:pPr>
            <a:r>
              <a:rPr lang="en-US" sz="1600" b="1" dirty="0">
                <a:solidFill>
                  <a:srgbClr val="000000"/>
                </a:solidFill>
                <a:latin typeface="Times New Roman" panose="02020603050405020304" pitchFamily="18" charset="0"/>
                <a:ea typeface="Calibri" pitchFamily="34" charset="-122"/>
                <a:cs typeface="Times New Roman" panose="02020603050405020304" pitchFamily="18" charset="0"/>
              </a:rPr>
              <a:t>System Testing — All Test Cases Passed</a:t>
            </a:r>
            <a:endParaRPr lang="en-US" sz="1600" dirty="0">
              <a:latin typeface="Times New Roman" panose="02020603050405020304" pitchFamily="18" charset="0"/>
              <a:cs typeface="Times New Roman" panose="02020603050405020304" pitchFamily="18" charset="0"/>
            </a:endParaRPr>
          </a:p>
        </p:txBody>
      </p:sp>
      <p:graphicFrame>
        <p:nvGraphicFramePr>
          <p:cNvPr id="11" name="Table 0"/>
          <p:cNvGraphicFramePr>
            <a:graphicFrameLocks noGrp="1"/>
          </p:cNvGraphicFramePr>
          <p:nvPr>
            <p:extLst>
              <p:ext uri="{D42A27DB-BD31-4B8C-83A1-F6EECF244321}">
                <p14:modId xmlns:p14="http://schemas.microsoft.com/office/powerpoint/2010/main" val="3892287081"/>
              </p:ext>
            </p:extLst>
          </p:nvPr>
        </p:nvGraphicFramePr>
        <p:xfrm>
          <a:off x="365760" y="1353312"/>
          <a:ext cx="8412480" cy="3291840"/>
        </p:xfrm>
        <a:graphic>
          <a:graphicData uri="http://schemas.openxmlformats.org/drawingml/2006/table">
            <a:tbl>
              <a:tblPr/>
              <a:tblGrid>
                <a:gridCol w="3200400"/>
                <a:gridCol w="3749040"/>
                <a:gridCol w="1463040"/>
              </a:tblGrid>
              <a:tr h="329184">
                <a:tc>
                  <a:txBody>
                    <a:bodyPr/>
                    <a:lstStyle/>
                    <a:p>
                      <a:pPr marL="0" indent="0">
                        <a:buNone/>
                      </a:pPr>
                      <a:r>
                        <a:rPr lang="en-US" sz="1200" b="1" dirty="0">
                          <a:solidFill>
                            <a:srgbClr val="000000"/>
                          </a:solidFill>
                          <a:latin typeface="Times New Roman" panose="02020603050405020304" pitchFamily="18" charset="0"/>
                          <a:ea typeface="Calibri" pitchFamily="34" charset="-122"/>
                          <a:cs typeface="Times New Roman" panose="02020603050405020304" pitchFamily="18" charset="0"/>
                        </a:rPr>
                        <a:t>Test Case</a:t>
                      </a:r>
                      <a:endParaRPr lang="en-US" sz="12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200" b="1" dirty="0">
                          <a:solidFill>
                            <a:srgbClr val="000000"/>
                          </a:solidFill>
                          <a:latin typeface="Times New Roman" panose="02020603050405020304" pitchFamily="18" charset="0"/>
                          <a:ea typeface="Calibri" pitchFamily="34" charset="-122"/>
                          <a:cs typeface="Times New Roman" panose="02020603050405020304" pitchFamily="18" charset="0"/>
                        </a:rPr>
                        <a:t>Expected Result</a:t>
                      </a:r>
                      <a:endParaRPr lang="en-US" sz="12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200" b="1" dirty="0">
                          <a:solidFill>
                            <a:srgbClr val="000000"/>
                          </a:solidFill>
                          <a:latin typeface="Times New Roman" panose="02020603050405020304" pitchFamily="18" charset="0"/>
                          <a:ea typeface="Calibri" pitchFamily="34" charset="-122"/>
                          <a:cs typeface="Times New Roman" panose="02020603050405020304" pitchFamily="18" charset="0"/>
                        </a:rPr>
                        <a:t>Status</a:t>
                      </a:r>
                      <a:endParaRPr lang="en-US" sz="12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29184">
                <a:tc>
                  <a:txBody>
                    <a:bodyPr/>
                    <a:lstStyle/>
                    <a:p>
                      <a:pPr marL="0" indent="0">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Login with valid credentials</a:t>
                      </a:r>
                      <a:endParaRPr lang="en-US" sz="11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Redirect to user dashboard</a:t>
                      </a:r>
                      <a:endParaRPr lang="en-US" sz="11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PASS</a:t>
                      </a:r>
                      <a:endParaRPr lang="en-US" sz="11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29184">
                <a:tc>
                  <a:txBody>
                    <a:bodyPr/>
                    <a:lstStyle/>
                    <a:p>
                      <a:pPr marL="0" indent="0">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Login with invalid password</a:t>
                      </a:r>
                      <a:endParaRPr lang="en-US" sz="11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Error message displayed</a:t>
                      </a:r>
                      <a:endParaRPr lang="en-US" sz="11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PASS</a:t>
                      </a:r>
                      <a:endParaRPr lang="en-US" sz="11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29184">
                <a:tc>
                  <a:txBody>
                    <a:bodyPr/>
                    <a:lstStyle/>
                    <a:p>
                      <a:pPr marL="0" indent="0">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Register with existing email</a:t>
                      </a:r>
                      <a:endParaRPr lang="en-US" sz="11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Duplicate email warning shown</a:t>
                      </a:r>
                      <a:endParaRPr lang="en-US" sz="11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PASS</a:t>
                      </a:r>
                      <a:endParaRPr lang="en-US" sz="11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29184">
                <a:tc>
                  <a:txBody>
                    <a:bodyPr/>
                    <a:lstStyle/>
                    <a:p>
                      <a:pPr marL="0" indent="0">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Upload file to cloud server</a:t>
                      </a:r>
                      <a:endParaRPr lang="en-US" sz="11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File split &amp; stored in Uploadfile folder</a:t>
                      </a:r>
                      <a:endParaRPr lang="en-US" sz="11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PASS</a:t>
                      </a:r>
                      <a:endParaRPr lang="en-US" sz="11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29184">
                <a:tc>
                  <a:txBody>
                    <a:bodyPr/>
                    <a:lstStyle/>
                    <a:p>
                      <a:pPr marL="0" indent="0">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File partition split process</a:t>
                      </a:r>
                      <a:endParaRPr lang="en-US" sz="11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File divided into encrypted partitions</a:t>
                      </a:r>
                      <a:endParaRPr lang="en-US" sz="11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PASS</a:t>
                      </a:r>
                      <a:endParaRPr lang="en-US" sz="11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29184">
                <a:tc>
                  <a:txBody>
                    <a:bodyPr/>
                    <a:lstStyle/>
                    <a:p>
                      <a:pPr marL="0" indent="0">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Send file access request</a:t>
                      </a:r>
                      <a:endParaRPr lang="en-US" sz="11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Request stored in database</a:t>
                      </a:r>
                      <a:endParaRPr lang="en-US" sz="11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PASS</a:t>
                      </a:r>
                      <a:endParaRPr lang="en-US" sz="11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29184">
                <a:tc>
                  <a:txBody>
                    <a:bodyPr/>
                    <a:lstStyle/>
                    <a:p>
                      <a:pPr marL="0" indent="0">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Enter valid OTP for file access</a:t>
                      </a:r>
                      <a:endParaRPr lang="en-US" sz="11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File download allowed</a:t>
                      </a:r>
                      <a:endParaRPr lang="en-US" sz="11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PASS</a:t>
                      </a:r>
                      <a:endParaRPr lang="en-US" sz="11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29184">
                <a:tc>
                  <a:txBody>
                    <a:bodyPr/>
                    <a:lstStyle/>
                    <a:p>
                      <a:pPr marL="0" indent="0">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TPA verify file integrity</a:t>
                      </a:r>
                      <a:endParaRPr lang="en-US" sz="11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Verification completed successfully</a:t>
                      </a:r>
                      <a:endParaRPr lang="en-US" sz="11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PASS</a:t>
                      </a:r>
                      <a:endParaRPr lang="en-US" sz="11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29184">
                <a:tc>
                  <a:txBody>
                    <a:bodyPr/>
                    <a:lstStyle/>
                    <a:p>
                      <a:pPr marL="0" indent="0">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Unauthorized access attempt</a:t>
                      </a:r>
                      <a:endParaRPr lang="en-US" sz="11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Security alert generated</a:t>
                      </a:r>
                      <a:endParaRPr lang="en-US" sz="11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PASS</a:t>
                      </a:r>
                      <a:endParaRPr lang="en-US" sz="11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bl>
          </a:graphicData>
        </a:graphic>
      </p:graphicFrame>
      <p:pic>
        <p:nvPicPr>
          <p:cNvPr id="8" name="Google Shape;95;p1" descr="Thiagarajar College (@ThiagarajarArts) | Twitter"/>
          <p:cNvPicPr preferRelativeResize="0"/>
          <p:nvPr/>
        </p:nvPicPr>
        <p:blipFill rotWithShape="1">
          <a:blip r:embed="rId3">
            <a:alphaModFix/>
          </a:blip>
          <a:srcRect/>
          <a:stretch/>
        </p:blipFill>
        <p:spPr>
          <a:xfrm>
            <a:off x="4122682" y="68581"/>
            <a:ext cx="512379" cy="364972"/>
          </a:xfrm>
          <a:prstGeom prst="rect">
            <a:avLst/>
          </a:prstGeom>
          <a:noFill/>
          <a:ln>
            <a:noFill/>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338958"/>
            <a:ext cx="8412480" cy="756745"/>
          </a:xfrm>
          <a:prstGeom prst="rect">
            <a:avLst/>
          </a:prstGeom>
          <a:noFill/>
          <a:ln/>
        </p:spPr>
        <p:txBody>
          <a:bodyPr wrap="square" rtlCol="0" anchor="ctr"/>
          <a:lstStyle/>
          <a:p>
            <a:pPr marL="0" indent="0">
              <a:buNone/>
            </a:pPr>
            <a:r>
              <a:rPr lang="en-US" sz="2800" b="1" u="sng" dirty="0">
                <a:solidFill>
                  <a:srgbClr val="000000"/>
                </a:solidFill>
                <a:latin typeface="Times New Roman" panose="02020603050405020304" pitchFamily="18" charset="0"/>
                <a:ea typeface="Calibri" pitchFamily="34" charset="-122"/>
                <a:cs typeface="Times New Roman" panose="02020603050405020304" pitchFamily="18" charset="0"/>
              </a:rPr>
              <a:t>SAMPLE SCREENSHOTS</a:t>
            </a:r>
            <a:endParaRPr lang="en-US" sz="2800" dirty="0">
              <a:latin typeface="Times New Roman" panose="02020603050405020304" pitchFamily="18" charset="0"/>
              <a:cs typeface="Times New Roman" panose="02020603050405020304" pitchFamily="18" charset="0"/>
            </a:endParaRPr>
          </a:p>
        </p:txBody>
      </p:sp>
      <p:sp>
        <p:nvSpPr>
          <p:cNvPr id="3" name="Text 1"/>
          <p:cNvSpPr/>
          <p:nvPr/>
        </p:nvSpPr>
        <p:spPr>
          <a:xfrm>
            <a:off x="274320" y="4873752"/>
            <a:ext cx="1371600" cy="201168"/>
          </a:xfrm>
          <a:prstGeom prst="rect">
            <a:avLst/>
          </a:prstGeom>
          <a:noFill/>
          <a:ln/>
        </p:spPr>
        <p:txBody>
          <a:bodyPr wrap="square" rtlCol="0" anchor="ctr"/>
          <a:lstStyle/>
          <a:p>
            <a:r>
              <a:rPr lang="en-US" sz="900" dirty="0">
                <a:solidFill>
                  <a:schemeClr val="bg1">
                    <a:lumMod val="50000"/>
                  </a:schemeClr>
                </a:solidFill>
                <a:latin typeface="Calibri" pitchFamily="34" charset="0"/>
                <a:ea typeface="Calibri" pitchFamily="34" charset="-122"/>
                <a:cs typeface="Calibri" pitchFamily="34" charset="-120"/>
              </a:rPr>
              <a:t>11/03/2026</a:t>
            </a:r>
            <a:endParaRPr lang="en-US" sz="900" dirty="0">
              <a:solidFill>
                <a:schemeClr val="bg1">
                  <a:lumMod val="50000"/>
                </a:schemeClr>
              </a:solidFill>
            </a:endParaRPr>
          </a:p>
        </p:txBody>
      </p:sp>
      <p:sp>
        <p:nvSpPr>
          <p:cNvPr id="4" name="Text 2"/>
          <p:cNvSpPr/>
          <p:nvPr/>
        </p:nvSpPr>
        <p:spPr>
          <a:xfrm>
            <a:off x="1828800" y="4873752"/>
            <a:ext cx="5486400" cy="201168"/>
          </a:xfrm>
          <a:prstGeom prst="rect">
            <a:avLst/>
          </a:prstGeom>
          <a:noFill/>
          <a:ln/>
        </p:spPr>
        <p:txBody>
          <a:bodyPr wrap="square" rtlCol="0" anchor="ctr"/>
          <a:lstStyle/>
          <a:p>
            <a:pPr lvl="0" algn="ctr"/>
            <a:r>
              <a:rPr lang="en-US" sz="900" dirty="0">
                <a:solidFill>
                  <a:schemeClr val="bg1">
                    <a:lumMod val="50000"/>
                  </a:schemeClr>
                </a:solidFill>
              </a:rPr>
              <a:t>PCS24PJ41 Project - Second Review Presentation 2025- 2026</a:t>
            </a:r>
          </a:p>
        </p:txBody>
      </p:sp>
      <p:sp>
        <p:nvSpPr>
          <p:cNvPr id="5" name="Text 3"/>
          <p:cNvSpPr/>
          <p:nvPr/>
        </p:nvSpPr>
        <p:spPr>
          <a:xfrm>
            <a:off x="8686800" y="4873752"/>
            <a:ext cx="365760" cy="201168"/>
          </a:xfrm>
          <a:prstGeom prst="rect">
            <a:avLst/>
          </a:prstGeom>
          <a:noFill/>
          <a:ln/>
        </p:spPr>
        <p:txBody>
          <a:bodyPr wrap="square" rtlCol="0" anchor="ctr"/>
          <a:lstStyle/>
          <a:p>
            <a:pPr marL="0" indent="0" algn="r">
              <a:buNone/>
            </a:pPr>
            <a:r>
              <a:rPr lang="en-US" sz="900" dirty="0">
                <a:solidFill>
                  <a:srgbClr val="000000"/>
                </a:solidFill>
                <a:latin typeface="Calibri" pitchFamily="34" charset="0"/>
                <a:ea typeface="Calibri" pitchFamily="34" charset="-122"/>
                <a:cs typeface="Calibri" pitchFamily="34" charset="-120"/>
              </a:rPr>
              <a:t>11</a:t>
            </a:r>
            <a:endParaRPr lang="en-US" sz="900" dirty="0"/>
          </a:p>
        </p:txBody>
      </p:sp>
      <p:sp>
        <p:nvSpPr>
          <p:cNvPr id="6" name="Text 4"/>
          <p:cNvSpPr/>
          <p:nvPr/>
        </p:nvSpPr>
        <p:spPr>
          <a:xfrm>
            <a:off x="457200" y="960120"/>
            <a:ext cx="8229600" cy="292608"/>
          </a:xfrm>
          <a:prstGeom prst="rect">
            <a:avLst/>
          </a:prstGeom>
          <a:noFill/>
          <a:ln/>
        </p:spPr>
        <p:txBody>
          <a:bodyPr wrap="square" rtlCol="0" anchor="ctr"/>
          <a:lstStyle/>
          <a:p>
            <a:pPr marL="0" indent="0">
              <a:buNone/>
            </a:pPr>
            <a:r>
              <a:rPr lang="en-US" sz="1600" b="1" dirty="0">
                <a:solidFill>
                  <a:srgbClr val="000000"/>
                </a:solidFill>
                <a:latin typeface="Times New Roman" panose="02020603050405020304" pitchFamily="18" charset="0"/>
                <a:ea typeface="Calibri" pitchFamily="34" charset="-122"/>
                <a:cs typeface="Times New Roman" panose="02020603050405020304" pitchFamily="18" charset="0"/>
              </a:rPr>
              <a:t>Homepage:</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365760" y="3830389"/>
            <a:ext cx="8229600" cy="1463040"/>
          </a:xfrm>
          <a:prstGeom prst="rect">
            <a:avLst/>
          </a:prstGeom>
          <a:noFill/>
          <a:ln/>
        </p:spPr>
        <p:txBody>
          <a:bodyPr wrap="square" rtlCol="0" anchor="t"/>
          <a:lstStyle/>
          <a:p>
            <a:pPr marL="0" indent="0" algn="just">
              <a:buNone/>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The homepage provides entry points for User Login, Admin Login, and Third Party (TPA) login. The hero section displays the system title 'Cloud Random Split Secure Encryption' along with a brief description of the platform. Three feature sections are shown: Secure Encryption, Cloud Storage, and Trusted Access, highlighting the key capabilities of the system.</a:t>
            </a:r>
            <a:endParaRPr lang="en-US" sz="1400" dirty="0">
              <a:latin typeface="Times New Roman" panose="02020603050405020304" pitchFamily="18" charset="0"/>
              <a:cs typeface="Times New Roman" panose="02020603050405020304" pitchFamily="18" charset="0"/>
            </a:endParaRPr>
          </a:p>
        </p:txBody>
      </p:sp>
      <p:pic>
        <p:nvPicPr>
          <p:cNvPr id="8" name="Google Shape;95;p1" descr="Thiagarajar College (@ThiagarajarArts) | Twitter"/>
          <p:cNvPicPr preferRelativeResize="0"/>
          <p:nvPr/>
        </p:nvPicPr>
        <p:blipFill rotWithShape="1">
          <a:blip r:embed="rId3">
            <a:alphaModFix/>
          </a:blip>
          <a:srcRect/>
          <a:stretch/>
        </p:blipFill>
        <p:spPr>
          <a:xfrm>
            <a:off x="4122682" y="68580"/>
            <a:ext cx="512379" cy="420151"/>
          </a:xfrm>
          <a:prstGeom prst="rect">
            <a:avLst/>
          </a:prstGeom>
          <a:noFill/>
          <a:ln>
            <a:noFill/>
          </a:ln>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66608" y="1252727"/>
            <a:ext cx="6148592" cy="2439261"/>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331076"/>
            <a:ext cx="8412480" cy="693682"/>
          </a:xfrm>
          <a:prstGeom prst="rect">
            <a:avLst/>
          </a:prstGeom>
          <a:noFill/>
          <a:ln/>
        </p:spPr>
        <p:txBody>
          <a:bodyPr wrap="square" rtlCol="0" anchor="ctr"/>
          <a:lstStyle/>
          <a:p>
            <a:pPr marL="0" indent="0">
              <a:buNone/>
            </a:pPr>
            <a:r>
              <a:rPr lang="en-US" sz="2800" b="1" u="sng" dirty="0">
                <a:solidFill>
                  <a:srgbClr val="000000"/>
                </a:solidFill>
                <a:latin typeface="Times New Roman" panose="02020603050405020304" pitchFamily="18" charset="0"/>
                <a:ea typeface="Calibri" pitchFamily="34" charset="-122"/>
                <a:cs typeface="Times New Roman" panose="02020603050405020304" pitchFamily="18" charset="0"/>
              </a:rPr>
              <a:t>SAMPLE SCREENSHOTS</a:t>
            </a:r>
            <a:endParaRPr lang="en-US" sz="2800" dirty="0">
              <a:latin typeface="Times New Roman" panose="02020603050405020304" pitchFamily="18" charset="0"/>
              <a:cs typeface="Times New Roman" panose="02020603050405020304" pitchFamily="18" charset="0"/>
            </a:endParaRPr>
          </a:p>
        </p:txBody>
      </p:sp>
      <p:sp>
        <p:nvSpPr>
          <p:cNvPr id="3" name="Text 1"/>
          <p:cNvSpPr/>
          <p:nvPr/>
        </p:nvSpPr>
        <p:spPr>
          <a:xfrm>
            <a:off x="274320" y="4873752"/>
            <a:ext cx="1371600" cy="201168"/>
          </a:xfrm>
          <a:prstGeom prst="rect">
            <a:avLst/>
          </a:prstGeom>
          <a:noFill/>
          <a:ln/>
        </p:spPr>
        <p:txBody>
          <a:bodyPr wrap="square" rtlCol="0" anchor="ctr"/>
          <a:lstStyle/>
          <a:p>
            <a:r>
              <a:rPr lang="en-US" sz="900" dirty="0">
                <a:solidFill>
                  <a:schemeClr val="bg1">
                    <a:lumMod val="50000"/>
                  </a:schemeClr>
                </a:solidFill>
                <a:latin typeface="Calibri" pitchFamily="34" charset="0"/>
                <a:ea typeface="Calibri" pitchFamily="34" charset="-122"/>
                <a:cs typeface="Calibri" pitchFamily="34" charset="-120"/>
              </a:rPr>
              <a:t>11/03/2026</a:t>
            </a:r>
            <a:endParaRPr lang="en-US" sz="900" dirty="0">
              <a:solidFill>
                <a:schemeClr val="bg1">
                  <a:lumMod val="50000"/>
                </a:schemeClr>
              </a:solidFill>
            </a:endParaRPr>
          </a:p>
        </p:txBody>
      </p:sp>
      <p:sp>
        <p:nvSpPr>
          <p:cNvPr id="4" name="Text 2"/>
          <p:cNvSpPr/>
          <p:nvPr/>
        </p:nvSpPr>
        <p:spPr>
          <a:xfrm>
            <a:off x="1828800" y="4873752"/>
            <a:ext cx="5486400" cy="201168"/>
          </a:xfrm>
          <a:prstGeom prst="rect">
            <a:avLst/>
          </a:prstGeom>
          <a:noFill/>
          <a:ln/>
        </p:spPr>
        <p:txBody>
          <a:bodyPr wrap="square" rtlCol="0" anchor="ctr"/>
          <a:lstStyle/>
          <a:p>
            <a:pPr lvl="0" algn="ctr"/>
            <a:r>
              <a:rPr lang="en-US" sz="900" dirty="0">
                <a:solidFill>
                  <a:schemeClr val="bg1">
                    <a:lumMod val="50000"/>
                  </a:schemeClr>
                </a:solidFill>
              </a:rPr>
              <a:t>PCS24PJ41 Project - Second Review Presentation 2025- 2026</a:t>
            </a:r>
          </a:p>
        </p:txBody>
      </p:sp>
      <p:sp>
        <p:nvSpPr>
          <p:cNvPr id="5" name="Text 3"/>
          <p:cNvSpPr/>
          <p:nvPr/>
        </p:nvSpPr>
        <p:spPr>
          <a:xfrm>
            <a:off x="8686800" y="4873752"/>
            <a:ext cx="365760" cy="201168"/>
          </a:xfrm>
          <a:prstGeom prst="rect">
            <a:avLst/>
          </a:prstGeom>
          <a:noFill/>
          <a:ln/>
        </p:spPr>
        <p:txBody>
          <a:bodyPr wrap="square" rtlCol="0" anchor="ctr"/>
          <a:lstStyle/>
          <a:p>
            <a:pPr marL="0" indent="0" algn="r">
              <a:buNone/>
            </a:pPr>
            <a:r>
              <a:rPr lang="en-US" sz="900" dirty="0">
                <a:solidFill>
                  <a:srgbClr val="000000"/>
                </a:solidFill>
                <a:latin typeface="Calibri" pitchFamily="34" charset="0"/>
                <a:ea typeface="Calibri" pitchFamily="34" charset="-122"/>
                <a:cs typeface="Calibri" pitchFamily="34" charset="-120"/>
              </a:rPr>
              <a:t>12</a:t>
            </a:r>
            <a:endParaRPr lang="en-US" sz="900" dirty="0"/>
          </a:p>
        </p:txBody>
      </p:sp>
      <p:sp>
        <p:nvSpPr>
          <p:cNvPr id="6" name="Text 4"/>
          <p:cNvSpPr/>
          <p:nvPr/>
        </p:nvSpPr>
        <p:spPr>
          <a:xfrm>
            <a:off x="457200" y="960120"/>
            <a:ext cx="8229600" cy="292608"/>
          </a:xfrm>
          <a:prstGeom prst="rect">
            <a:avLst/>
          </a:prstGeom>
          <a:noFill/>
          <a:ln/>
        </p:spPr>
        <p:txBody>
          <a:bodyPr wrap="square" rtlCol="0" anchor="ctr"/>
          <a:lstStyle/>
          <a:p>
            <a:pPr marL="0" indent="0">
              <a:buNone/>
            </a:pPr>
            <a:r>
              <a:rPr lang="en-US" sz="1600" b="1" dirty="0">
                <a:solidFill>
                  <a:srgbClr val="000000"/>
                </a:solidFill>
                <a:latin typeface="Times New Roman" panose="02020603050405020304" pitchFamily="18" charset="0"/>
                <a:ea typeface="Calibri" pitchFamily="34" charset="-122"/>
                <a:cs typeface="Times New Roman" panose="02020603050405020304" pitchFamily="18" charset="0"/>
              </a:rPr>
              <a:t>User Home Page:</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365760" y="3931920"/>
            <a:ext cx="8229600" cy="1463040"/>
          </a:xfrm>
          <a:prstGeom prst="rect">
            <a:avLst/>
          </a:prstGeom>
          <a:noFill/>
          <a:ln/>
        </p:spPr>
        <p:txBody>
          <a:bodyPr wrap="square" rtlCol="0" anchor="t"/>
          <a:lstStyle/>
          <a:p>
            <a:pPr marL="0" indent="0" algn="just">
              <a:buNone/>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After login, the user dashboard shows total files uploaded, storage used, and last login information. Quick action buttons allow users to Upload New File, Access My Files, and Manage Profile. The navigation bar provides links to Upload File, My Uploads, View Files, Requests, and Profile sections for full control over file management.</a:t>
            </a:r>
            <a:endParaRPr lang="en-US" sz="1400" dirty="0">
              <a:latin typeface="Times New Roman" panose="02020603050405020304" pitchFamily="18" charset="0"/>
              <a:cs typeface="Times New Roman" panose="02020603050405020304" pitchFamily="18" charset="0"/>
            </a:endParaRPr>
          </a:p>
        </p:txBody>
      </p:sp>
      <p:pic>
        <p:nvPicPr>
          <p:cNvPr id="8" name="Google Shape;95;p1" descr="Thiagarajar College (@ThiagarajarArts) | Twitter"/>
          <p:cNvPicPr preferRelativeResize="0"/>
          <p:nvPr/>
        </p:nvPicPr>
        <p:blipFill rotWithShape="1">
          <a:blip r:embed="rId3">
            <a:alphaModFix/>
          </a:blip>
          <a:srcRect/>
          <a:stretch/>
        </p:blipFill>
        <p:spPr>
          <a:xfrm>
            <a:off x="4122682" y="68581"/>
            <a:ext cx="512379" cy="364972"/>
          </a:xfrm>
          <a:prstGeom prst="rect">
            <a:avLst/>
          </a:prstGeom>
          <a:noFill/>
          <a:ln>
            <a:noFill/>
          </a:ln>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 y="1252728"/>
            <a:ext cx="8028432" cy="2592324"/>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354724"/>
            <a:ext cx="8412480" cy="685800"/>
          </a:xfrm>
          <a:prstGeom prst="rect">
            <a:avLst/>
          </a:prstGeom>
          <a:noFill/>
          <a:ln/>
        </p:spPr>
        <p:txBody>
          <a:bodyPr wrap="square" rtlCol="0" anchor="ctr"/>
          <a:lstStyle/>
          <a:p>
            <a:pPr marL="0" indent="0">
              <a:buNone/>
            </a:pPr>
            <a:r>
              <a:rPr lang="en-US" sz="2800" b="1" u="sng" dirty="0">
                <a:solidFill>
                  <a:srgbClr val="000000"/>
                </a:solidFill>
                <a:latin typeface="Times New Roman" panose="02020603050405020304" pitchFamily="18" charset="0"/>
                <a:ea typeface="Calibri" pitchFamily="34" charset="-122"/>
                <a:cs typeface="Times New Roman" panose="02020603050405020304" pitchFamily="18" charset="0"/>
              </a:rPr>
              <a:t>SAMPLE SCREENSHOTS</a:t>
            </a:r>
            <a:endParaRPr lang="en-US" sz="2800" dirty="0">
              <a:latin typeface="Times New Roman" panose="02020603050405020304" pitchFamily="18" charset="0"/>
              <a:cs typeface="Times New Roman" panose="02020603050405020304" pitchFamily="18" charset="0"/>
            </a:endParaRPr>
          </a:p>
        </p:txBody>
      </p:sp>
      <p:sp>
        <p:nvSpPr>
          <p:cNvPr id="3" name="Text 1"/>
          <p:cNvSpPr/>
          <p:nvPr/>
        </p:nvSpPr>
        <p:spPr>
          <a:xfrm>
            <a:off x="274320" y="4873752"/>
            <a:ext cx="1371600" cy="201168"/>
          </a:xfrm>
          <a:prstGeom prst="rect">
            <a:avLst/>
          </a:prstGeom>
          <a:noFill/>
          <a:ln/>
        </p:spPr>
        <p:txBody>
          <a:bodyPr wrap="square" rtlCol="0" anchor="ctr"/>
          <a:lstStyle/>
          <a:p>
            <a:r>
              <a:rPr lang="en-US" sz="900" dirty="0">
                <a:solidFill>
                  <a:schemeClr val="bg1">
                    <a:lumMod val="50000"/>
                  </a:schemeClr>
                </a:solidFill>
                <a:latin typeface="Calibri" pitchFamily="34" charset="0"/>
                <a:ea typeface="Calibri" pitchFamily="34" charset="-122"/>
                <a:cs typeface="Calibri" pitchFamily="34" charset="-120"/>
              </a:rPr>
              <a:t>11/03/2026</a:t>
            </a:r>
            <a:endParaRPr lang="en-US" sz="900" dirty="0">
              <a:solidFill>
                <a:schemeClr val="bg1">
                  <a:lumMod val="50000"/>
                </a:schemeClr>
              </a:solidFill>
            </a:endParaRPr>
          </a:p>
        </p:txBody>
      </p:sp>
      <p:sp>
        <p:nvSpPr>
          <p:cNvPr id="4" name="Text 2"/>
          <p:cNvSpPr/>
          <p:nvPr/>
        </p:nvSpPr>
        <p:spPr>
          <a:xfrm>
            <a:off x="1828800" y="4873752"/>
            <a:ext cx="5486400" cy="201168"/>
          </a:xfrm>
          <a:prstGeom prst="rect">
            <a:avLst/>
          </a:prstGeom>
          <a:noFill/>
          <a:ln/>
        </p:spPr>
        <p:txBody>
          <a:bodyPr wrap="square" rtlCol="0" anchor="ctr"/>
          <a:lstStyle/>
          <a:p>
            <a:pPr lvl="0" algn="ctr"/>
            <a:r>
              <a:rPr lang="en-US" sz="900" dirty="0">
                <a:solidFill>
                  <a:schemeClr val="bg1">
                    <a:lumMod val="50000"/>
                  </a:schemeClr>
                </a:solidFill>
              </a:rPr>
              <a:t>PCS24PJ41 Project - Second Review Presentation 2025- 2026</a:t>
            </a:r>
          </a:p>
        </p:txBody>
      </p:sp>
      <p:sp>
        <p:nvSpPr>
          <p:cNvPr id="5" name="Text 3"/>
          <p:cNvSpPr/>
          <p:nvPr/>
        </p:nvSpPr>
        <p:spPr>
          <a:xfrm>
            <a:off x="8686800" y="4873752"/>
            <a:ext cx="365760" cy="201168"/>
          </a:xfrm>
          <a:prstGeom prst="rect">
            <a:avLst/>
          </a:prstGeom>
          <a:noFill/>
          <a:ln/>
        </p:spPr>
        <p:txBody>
          <a:bodyPr wrap="square" rtlCol="0" anchor="ctr"/>
          <a:lstStyle/>
          <a:p>
            <a:pPr marL="0" indent="0" algn="r">
              <a:buNone/>
            </a:pPr>
            <a:r>
              <a:rPr lang="en-US" sz="900" dirty="0">
                <a:solidFill>
                  <a:srgbClr val="000000"/>
                </a:solidFill>
                <a:latin typeface="Calibri" pitchFamily="34" charset="0"/>
                <a:ea typeface="Calibri" pitchFamily="34" charset="-122"/>
                <a:cs typeface="Calibri" pitchFamily="34" charset="-120"/>
              </a:rPr>
              <a:t>13</a:t>
            </a:r>
            <a:endParaRPr lang="en-US" sz="900" dirty="0"/>
          </a:p>
        </p:txBody>
      </p:sp>
      <p:sp>
        <p:nvSpPr>
          <p:cNvPr id="6" name="Text 4"/>
          <p:cNvSpPr/>
          <p:nvPr/>
        </p:nvSpPr>
        <p:spPr>
          <a:xfrm>
            <a:off x="457200" y="960120"/>
            <a:ext cx="8229600" cy="435128"/>
          </a:xfrm>
          <a:prstGeom prst="rect">
            <a:avLst/>
          </a:prstGeom>
          <a:noFill/>
          <a:ln/>
        </p:spPr>
        <p:txBody>
          <a:bodyPr wrap="square" rtlCol="0" anchor="ctr"/>
          <a:lstStyle/>
          <a:p>
            <a:pPr marL="0" indent="0">
              <a:buNone/>
            </a:pPr>
            <a:r>
              <a:rPr lang="en-US" sz="1600" b="1" dirty="0">
                <a:solidFill>
                  <a:srgbClr val="000000"/>
                </a:solidFill>
                <a:latin typeface="Times New Roman" panose="02020603050405020304" pitchFamily="18" charset="0"/>
                <a:ea typeface="Calibri" pitchFamily="34" charset="-122"/>
                <a:cs typeface="Times New Roman" panose="02020603050405020304" pitchFamily="18" charset="0"/>
              </a:rPr>
              <a:t>Admin Home Page:</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457200" y="3840480"/>
            <a:ext cx="8229600" cy="1554480"/>
          </a:xfrm>
          <a:prstGeom prst="rect">
            <a:avLst/>
          </a:prstGeom>
          <a:noFill/>
          <a:ln/>
        </p:spPr>
        <p:txBody>
          <a:bodyPr wrap="square" rtlCol="0" anchor="t"/>
          <a:lstStyle/>
          <a:p>
            <a:pPr marL="0" indent="0" algn="just">
              <a:buNone/>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The Admin Dashboard provides a centralized interface to monitor user registrations, verify uploaded files, manage storage, and control system activities. The dashboard displays File Verification Status, User Registration counts, and Storage Usage (KB). A file management table lists File ID, File Name, Upload Date, Size, File Owner, and Verify Status for every uploaded file in the system.</a:t>
            </a:r>
            <a:endParaRPr lang="en-US" sz="1400" dirty="0">
              <a:latin typeface="Times New Roman" panose="02020603050405020304" pitchFamily="18" charset="0"/>
              <a:cs typeface="Times New Roman" panose="02020603050405020304" pitchFamily="18" charset="0"/>
            </a:endParaRPr>
          </a:p>
        </p:txBody>
      </p:sp>
      <p:pic>
        <p:nvPicPr>
          <p:cNvPr id="8" name="Google Shape;95;p1" descr="Thiagarajar College (@ThiagarajarArts) | Twitter"/>
          <p:cNvPicPr preferRelativeResize="0"/>
          <p:nvPr/>
        </p:nvPicPr>
        <p:blipFill rotWithShape="1">
          <a:blip r:embed="rId3">
            <a:alphaModFix/>
          </a:blip>
          <a:srcRect/>
          <a:stretch/>
        </p:blipFill>
        <p:spPr>
          <a:xfrm>
            <a:off x="4122682" y="68580"/>
            <a:ext cx="512379" cy="420151"/>
          </a:xfrm>
          <a:prstGeom prst="rect">
            <a:avLst/>
          </a:prstGeom>
          <a:noFill/>
          <a:ln>
            <a:noFill/>
          </a:ln>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4227" y="1326668"/>
            <a:ext cx="8139422" cy="2571987"/>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386254"/>
            <a:ext cx="8412480" cy="654270"/>
          </a:xfrm>
          <a:prstGeom prst="rect">
            <a:avLst/>
          </a:prstGeom>
          <a:noFill/>
          <a:ln/>
        </p:spPr>
        <p:txBody>
          <a:bodyPr wrap="square" rtlCol="0" anchor="ctr"/>
          <a:lstStyle/>
          <a:p>
            <a:pPr marL="0" indent="0">
              <a:buNone/>
            </a:pPr>
            <a:r>
              <a:rPr lang="en-US" sz="2800" b="1" u="sng" dirty="0">
                <a:solidFill>
                  <a:srgbClr val="000000"/>
                </a:solidFill>
                <a:latin typeface="Times New Roman" panose="02020603050405020304" pitchFamily="18" charset="0"/>
                <a:ea typeface="Calibri" pitchFamily="34" charset="-122"/>
                <a:cs typeface="Times New Roman" panose="02020603050405020304" pitchFamily="18" charset="0"/>
              </a:rPr>
              <a:t>SAMPLE SCREENSHOTS</a:t>
            </a:r>
            <a:endParaRPr lang="en-US" sz="2800" dirty="0">
              <a:latin typeface="Times New Roman" panose="02020603050405020304" pitchFamily="18" charset="0"/>
              <a:cs typeface="Times New Roman" panose="02020603050405020304" pitchFamily="18" charset="0"/>
            </a:endParaRPr>
          </a:p>
        </p:txBody>
      </p:sp>
      <p:sp>
        <p:nvSpPr>
          <p:cNvPr id="3" name="Text 1"/>
          <p:cNvSpPr/>
          <p:nvPr/>
        </p:nvSpPr>
        <p:spPr>
          <a:xfrm>
            <a:off x="274320" y="4873752"/>
            <a:ext cx="1371600" cy="201168"/>
          </a:xfrm>
          <a:prstGeom prst="rect">
            <a:avLst/>
          </a:prstGeom>
          <a:noFill/>
          <a:ln/>
        </p:spPr>
        <p:txBody>
          <a:bodyPr wrap="square" rtlCol="0" anchor="ctr"/>
          <a:lstStyle/>
          <a:p>
            <a:r>
              <a:rPr lang="en-US" sz="900" dirty="0">
                <a:solidFill>
                  <a:schemeClr val="bg1">
                    <a:lumMod val="50000"/>
                  </a:schemeClr>
                </a:solidFill>
                <a:latin typeface="Calibri" pitchFamily="34" charset="0"/>
                <a:ea typeface="Calibri" pitchFamily="34" charset="-122"/>
                <a:cs typeface="Calibri" pitchFamily="34" charset="-120"/>
              </a:rPr>
              <a:t>11/03/2026</a:t>
            </a:r>
            <a:endParaRPr lang="en-US" sz="900" dirty="0">
              <a:solidFill>
                <a:schemeClr val="bg1">
                  <a:lumMod val="50000"/>
                </a:schemeClr>
              </a:solidFill>
            </a:endParaRPr>
          </a:p>
        </p:txBody>
      </p:sp>
      <p:sp>
        <p:nvSpPr>
          <p:cNvPr id="4" name="Text 2"/>
          <p:cNvSpPr/>
          <p:nvPr/>
        </p:nvSpPr>
        <p:spPr>
          <a:xfrm>
            <a:off x="1828800" y="4873752"/>
            <a:ext cx="5486400" cy="201168"/>
          </a:xfrm>
          <a:prstGeom prst="rect">
            <a:avLst/>
          </a:prstGeom>
          <a:noFill/>
          <a:ln/>
        </p:spPr>
        <p:txBody>
          <a:bodyPr wrap="square" rtlCol="0" anchor="ctr"/>
          <a:lstStyle/>
          <a:p>
            <a:pPr lvl="0" algn="ctr"/>
            <a:r>
              <a:rPr lang="en-US" sz="900" dirty="0">
                <a:solidFill>
                  <a:schemeClr val="bg1">
                    <a:lumMod val="50000"/>
                  </a:schemeClr>
                </a:solidFill>
              </a:rPr>
              <a:t>PCS24PJ41 Project - Second Review Presentation 2025- 2026</a:t>
            </a:r>
          </a:p>
        </p:txBody>
      </p:sp>
      <p:sp>
        <p:nvSpPr>
          <p:cNvPr id="5" name="Text 3"/>
          <p:cNvSpPr/>
          <p:nvPr/>
        </p:nvSpPr>
        <p:spPr>
          <a:xfrm>
            <a:off x="8686800" y="4873752"/>
            <a:ext cx="365760" cy="201168"/>
          </a:xfrm>
          <a:prstGeom prst="rect">
            <a:avLst/>
          </a:prstGeom>
          <a:noFill/>
          <a:ln/>
        </p:spPr>
        <p:txBody>
          <a:bodyPr wrap="square" rtlCol="0" anchor="ctr"/>
          <a:lstStyle/>
          <a:p>
            <a:pPr marL="0" indent="0" algn="r">
              <a:buNone/>
            </a:pPr>
            <a:r>
              <a:rPr lang="en-US" sz="900" dirty="0">
                <a:solidFill>
                  <a:srgbClr val="000000"/>
                </a:solidFill>
                <a:latin typeface="Calibri" pitchFamily="34" charset="0"/>
                <a:ea typeface="Calibri" pitchFamily="34" charset="-122"/>
                <a:cs typeface="Calibri" pitchFamily="34" charset="-120"/>
              </a:rPr>
              <a:t>14</a:t>
            </a:r>
            <a:endParaRPr lang="en-US" sz="900" dirty="0"/>
          </a:p>
        </p:txBody>
      </p:sp>
      <p:sp>
        <p:nvSpPr>
          <p:cNvPr id="6" name="Text 4"/>
          <p:cNvSpPr/>
          <p:nvPr/>
        </p:nvSpPr>
        <p:spPr>
          <a:xfrm>
            <a:off x="457200" y="960120"/>
            <a:ext cx="8229600" cy="365760"/>
          </a:xfrm>
          <a:prstGeom prst="rect">
            <a:avLst/>
          </a:prstGeom>
          <a:noFill/>
          <a:ln/>
        </p:spPr>
        <p:txBody>
          <a:bodyPr wrap="square" rtlCol="0" anchor="ctr"/>
          <a:lstStyle/>
          <a:p>
            <a:pPr marL="0" indent="0">
              <a:buNone/>
            </a:pPr>
            <a:r>
              <a:rPr lang="en-US" sz="1600" b="1" dirty="0">
                <a:solidFill>
                  <a:srgbClr val="000000"/>
                </a:solidFill>
                <a:latin typeface="Times New Roman" panose="02020603050405020304" pitchFamily="18" charset="0"/>
                <a:ea typeface="Calibri" pitchFamily="34" charset="-122"/>
                <a:cs typeface="Times New Roman" panose="02020603050405020304" pitchFamily="18" charset="0"/>
              </a:rPr>
              <a:t>TPA Home Page:</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457200" y="3589020"/>
            <a:ext cx="8229600" cy="1554480"/>
          </a:xfrm>
          <a:prstGeom prst="rect">
            <a:avLst/>
          </a:prstGeom>
          <a:noFill/>
          <a:ln/>
        </p:spPr>
        <p:txBody>
          <a:bodyPr wrap="square" rtlCol="0" anchor="t"/>
          <a:lstStyle/>
          <a:p>
            <a:pPr marL="0" indent="0" algn="just">
              <a:buNone/>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The TPA (Third Party Auditor) dashboard allows the auditor to monitor and verify cloud file integrity. It shows a Verification Overview with counts of Verified and Pending files. Quick Action buttons include Verify Pending, Request Tokens, Browse All Files, and My Profile, enabling efficient and secure auditing of all cloud-stored files.</a:t>
            </a:r>
            <a:endParaRPr lang="en-US" sz="1400" dirty="0">
              <a:latin typeface="Times New Roman" panose="02020603050405020304" pitchFamily="18" charset="0"/>
              <a:cs typeface="Times New Roman" panose="02020603050405020304" pitchFamily="18" charset="0"/>
            </a:endParaRPr>
          </a:p>
        </p:txBody>
      </p:sp>
      <p:pic>
        <p:nvPicPr>
          <p:cNvPr id="8" name="Google Shape;95;p1" descr="Thiagarajar College (@ThiagarajarArts) | Twitter"/>
          <p:cNvPicPr preferRelativeResize="0"/>
          <p:nvPr/>
        </p:nvPicPr>
        <p:blipFill rotWithShape="1">
          <a:blip r:embed="rId3">
            <a:alphaModFix/>
          </a:blip>
          <a:srcRect/>
          <a:stretch/>
        </p:blipFill>
        <p:spPr>
          <a:xfrm>
            <a:off x="4122682" y="68580"/>
            <a:ext cx="512379" cy="420151"/>
          </a:xfrm>
          <a:prstGeom prst="rect">
            <a:avLst/>
          </a:prstGeom>
          <a:noFill/>
          <a:ln>
            <a:noFill/>
          </a:ln>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 y="1207481"/>
            <a:ext cx="8229600" cy="2395728"/>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386254"/>
            <a:ext cx="8412480" cy="654270"/>
          </a:xfrm>
          <a:prstGeom prst="rect">
            <a:avLst/>
          </a:prstGeom>
          <a:noFill/>
          <a:ln/>
        </p:spPr>
        <p:txBody>
          <a:bodyPr wrap="square" rtlCol="0" anchor="ctr"/>
          <a:lstStyle/>
          <a:p>
            <a:pPr marL="0" indent="0">
              <a:buNone/>
            </a:pPr>
            <a:r>
              <a:rPr lang="en-US" sz="2800" b="1" u="sng" dirty="0">
                <a:solidFill>
                  <a:srgbClr val="000000"/>
                </a:solidFill>
                <a:latin typeface="Times New Roman" panose="02020603050405020304" pitchFamily="18" charset="0"/>
                <a:ea typeface="Calibri" pitchFamily="34" charset="-122"/>
                <a:cs typeface="Times New Roman" panose="02020603050405020304" pitchFamily="18" charset="0"/>
              </a:rPr>
              <a:t>SAMPLE SCREENSHOTS</a:t>
            </a:r>
            <a:endParaRPr lang="en-US" sz="2800" dirty="0">
              <a:latin typeface="Times New Roman" panose="02020603050405020304" pitchFamily="18" charset="0"/>
              <a:cs typeface="Times New Roman" panose="02020603050405020304" pitchFamily="18" charset="0"/>
            </a:endParaRPr>
          </a:p>
        </p:txBody>
      </p:sp>
      <p:sp>
        <p:nvSpPr>
          <p:cNvPr id="3" name="Text 1"/>
          <p:cNvSpPr/>
          <p:nvPr/>
        </p:nvSpPr>
        <p:spPr>
          <a:xfrm>
            <a:off x="274320" y="4873752"/>
            <a:ext cx="1371600" cy="201168"/>
          </a:xfrm>
          <a:prstGeom prst="rect">
            <a:avLst/>
          </a:prstGeom>
          <a:noFill/>
          <a:ln/>
        </p:spPr>
        <p:txBody>
          <a:bodyPr wrap="square" rtlCol="0" anchor="ctr"/>
          <a:lstStyle/>
          <a:p>
            <a:r>
              <a:rPr lang="en-US" sz="900" dirty="0">
                <a:solidFill>
                  <a:schemeClr val="bg1">
                    <a:lumMod val="50000"/>
                  </a:schemeClr>
                </a:solidFill>
                <a:latin typeface="Calibri" pitchFamily="34" charset="0"/>
                <a:ea typeface="Calibri" pitchFamily="34" charset="-122"/>
                <a:cs typeface="Calibri" pitchFamily="34" charset="-120"/>
              </a:rPr>
              <a:t>11/03/2026</a:t>
            </a:r>
            <a:endParaRPr lang="en-US" sz="900" dirty="0">
              <a:solidFill>
                <a:schemeClr val="bg1">
                  <a:lumMod val="50000"/>
                </a:schemeClr>
              </a:solidFill>
            </a:endParaRPr>
          </a:p>
        </p:txBody>
      </p:sp>
      <p:sp>
        <p:nvSpPr>
          <p:cNvPr id="4" name="Text 2"/>
          <p:cNvSpPr/>
          <p:nvPr/>
        </p:nvSpPr>
        <p:spPr>
          <a:xfrm>
            <a:off x="1828800" y="4873752"/>
            <a:ext cx="5486400" cy="201168"/>
          </a:xfrm>
          <a:prstGeom prst="rect">
            <a:avLst/>
          </a:prstGeom>
          <a:noFill/>
          <a:ln/>
        </p:spPr>
        <p:txBody>
          <a:bodyPr wrap="square" rtlCol="0" anchor="ctr"/>
          <a:lstStyle/>
          <a:p>
            <a:pPr lvl="0" algn="ctr"/>
            <a:r>
              <a:rPr lang="en-US" sz="900" dirty="0">
                <a:solidFill>
                  <a:schemeClr val="bg1">
                    <a:lumMod val="50000"/>
                  </a:schemeClr>
                </a:solidFill>
              </a:rPr>
              <a:t>PCS24PJ41 Project - Second Review Presentation 2025- 2026</a:t>
            </a:r>
          </a:p>
        </p:txBody>
      </p:sp>
      <p:sp>
        <p:nvSpPr>
          <p:cNvPr id="5" name="Text 3"/>
          <p:cNvSpPr/>
          <p:nvPr/>
        </p:nvSpPr>
        <p:spPr>
          <a:xfrm>
            <a:off x="8686800" y="4873752"/>
            <a:ext cx="365760" cy="201168"/>
          </a:xfrm>
          <a:prstGeom prst="rect">
            <a:avLst/>
          </a:prstGeom>
          <a:noFill/>
          <a:ln/>
        </p:spPr>
        <p:txBody>
          <a:bodyPr wrap="square" rtlCol="0" anchor="ctr"/>
          <a:lstStyle/>
          <a:p>
            <a:pPr marL="0" indent="0" algn="r">
              <a:buNone/>
            </a:pPr>
            <a:r>
              <a:rPr lang="en-US" sz="900" dirty="0">
                <a:solidFill>
                  <a:srgbClr val="000000"/>
                </a:solidFill>
                <a:latin typeface="Calibri" pitchFamily="34" charset="0"/>
                <a:ea typeface="Calibri" pitchFamily="34" charset="-122"/>
                <a:cs typeface="Calibri" pitchFamily="34" charset="-120"/>
              </a:rPr>
              <a:t>14</a:t>
            </a:r>
            <a:endParaRPr lang="en-US" sz="900" dirty="0"/>
          </a:p>
        </p:txBody>
      </p:sp>
      <p:sp>
        <p:nvSpPr>
          <p:cNvPr id="6" name="Text 4"/>
          <p:cNvSpPr/>
          <p:nvPr/>
        </p:nvSpPr>
        <p:spPr>
          <a:xfrm>
            <a:off x="457200" y="960120"/>
            <a:ext cx="8229600" cy="365760"/>
          </a:xfrm>
          <a:prstGeom prst="rect">
            <a:avLst/>
          </a:prstGeom>
          <a:noFill/>
          <a:ln/>
        </p:spPr>
        <p:txBody>
          <a:bodyPr wrap="square" rtlCol="0" anchor="ctr"/>
          <a:lstStyle/>
          <a:p>
            <a:r>
              <a:rPr lang="en-IN" sz="1600" b="1" dirty="0">
                <a:solidFill>
                  <a:srgbClr val="000000"/>
                </a:solidFill>
                <a:latin typeface="Times New Roman" panose="02020603050405020304" pitchFamily="18" charset="0"/>
                <a:ea typeface="Calibri" pitchFamily="34" charset="-122"/>
                <a:cs typeface="Times New Roman" panose="02020603050405020304" pitchFamily="18" charset="0"/>
              </a:rPr>
              <a:t>Create Third Party Auditor</a:t>
            </a:r>
            <a:r>
              <a:rPr lang="en-US" sz="1600" b="1" dirty="0" smtClean="0">
                <a:solidFill>
                  <a:srgbClr val="000000"/>
                </a:solidFill>
                <a:latin typeface="Times New Roman" panose="02020603050405020304" pitchFamily="18" charset="0"/>
                <a:ea typeface="Calibri" pitchFamily="34" charset="-122"/>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457200" y="3906694"/>
            <a:ext cx="8229600" cy="1554480"/>
          </a:xfrm>
          <a:prstGeom prst="rect">
            <a:avLst/>
          </a:prstGeom>
          <a:noFill/>
          <a:ln/>
        </p:spPr>
        <p:txBody>
          <a:bodyPr wrap="square" rtlCol="0" anchor="t"/>
          <a:lstStyle/>
          <a:p>
            <a:pPr algn="just"/>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This image shows an Admin Dashboard page used to create a Third Party Auditor (TPA) account. The form contains fields for Username, Email Address, and Password. The admin enters the details and clicks the “Create TPA Account” button to register a new auditor.</a:t>
            </a:r>
          </a:p>
        </p:txBody>
      </p:sp>
      <p:pic>
        <p:nvPicPr>
          <p:cNvPr id="8" name="Google Shape;95;p1" descr="Thiagarajar College (@ThiagarajarArts) | Twitter"/>
          <p:cNvPicPr preferRelativeResize="0"/>
          <p:nvPr/>
        </p:nvPicPr>
        <p:blipFill rotWithShape="1">
          <a:blip r:embed="rId3">
            <a:alphaModFix/>
          </a:blip>
          <a:srcRect/>
          <a:stretch/>
        </p:blipFill>
        <p:spPr>
          <a:xfrm>
            <a:off x="4122682" y="68580"/>
            <a:ext cx="512379" cy="420151"/>
          </a:xfrm>
          <a:prstGeom prst="rect">
            <a:avLst/>
          </a:prstGeom>
          <a:noFill/>
          <a:ln>
            <a:noFill/>
          </a:ln>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 y="1358198"/>
            <a:ext cx="8110728" cy="2473138"/>
          </a:xfrm>
          <a:prstGeom prst="rect">
            <a:avLst/>
          </a:prstGeom>
        </p:spPr>
      </p:pic>
    </p:spTree>
    <p:extLst>
      <p:ext uri="{BB962C8B-B14F-4D97-AF65-F5344CB8AC3E}">
        <p14:creationId xmlns:p14="http://schemas.microsoft.com/office/powerpoint/2010/main" val="97878169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386254"/>
            <a:ext cx="8412480" cy="654270"/>
          </a:xfrm>
          <a:prstGeom prst="rect">
            <a:avLst/>
          </a:prstGeom>
          <a:noFill/>
          <a:ln/>
        </p:spPr>
        <p:txBody>
          <a:bodyPr wrap="square" rtlCol="0" anchor="ctr"/>
          <a:lstStyle/>
          <a:p>
            <a:pPr marL="0" indent="0">
              <a:buNone/>
            </a:pPr>
            <a:r>
              <a:rPr lang="en-US" sz="2800" b="1" u="sng" dirty="0">
                <a:solidFill>
                  <a:srgbClr val="000000"/>
                </a:solidFill>
                <a:latin typeface="Times New Roman" panose="02020603050405020304" pitchFamily="18" charset="0"/>
                <a:ea typeface="Calibri" pitchFamily="34" charset="-122"/>
                <a:cs typeface="Times New Roman" panose="02020603050405020304" pitchFamily="18" charset="0"/>
              </a:rPr>
              <a:t>SAMPLE SCREENSHOTS</a:t>
            </a:r>
            <a:endParaRPr lang="en-US" sz="2800" dirty="0">
              <a:latin typeface="Times New Roman" panose="02020603050405020304" pitchFamily="18" charset="0"/>
              <a:cs typeface="Times New Roman" panose="02020603050405020304" pitchFamily="18" charset="0"/>
            </a:endParaRPr>
          </a:p>
        </p:txBody>
      </p:sp>
      <p:sp>
        <p:nvSpPr>
          <p:cNvPr id="3" name="Text 1"/>
          <p:cNvSpPr/>
          <p:nvPr/>
        </p:nvSpPr>
        <p:spPr>
          <a:xfrm>
            <a:off x="274320" y="4873752"/>
            <a:ext cx="1371600" cy="201168"/>
          </a:xfrm>
          <a:prstGeom prst="rect">
            <a:avLst/>
          </a:prstGeom>
          <a:noFill/>
          <a:ln/>
        </p:spPr>
        <p:txBody>
          <a:bodyPr wrap="square" rtlCol="0" anchor="ctr"/>
          <a:lstStyle/>
          <a:p>
            <a:r>
              <a:rPr lang="en-US" sz="900" dirty="0">
                <a:solidFill>
                  <a:schemeClr val="bg1">
                    <a:lumMod val="50000"/>
                  </a:schemeClr>
                </a:solidFill>
                <a:latin typeface="Calibri" pitchFamily="34" charset="0"/>
                <a:ea typeface="Calibri" pitchFamily="34" charset="-122"/>
                <a:cs typeface="Calibri" pitchFamily="34" charset="-120"/>
              </a:rPr>
              <a:t>11/03/2026</a:t>
            </a:r>
            <a:endParaRPr lang="en-US" sz="900" dirty="0">
              <a:solidFill>
                <a:schemeClr val="bg1">
                  <a:lumMod val="50000"/>
                </a:schemeClr>
              </a:solidFill>
            </a:endParaRPr>
          </a:p>
        </p:txBody>
      </p:sp>
      <p:sp>
        <p:nvSpPr>
          <p:cNvPr id="4" name="Text 2"/>
          <p:cNvSpPr/>
          <p:nvPr/>
        </p:nvSpPr>
        <p:spPr>
          <a:xfrm>
            <a:off x="1828800" y="4873752"/>
            <a:ext cx="5486400" cy="201168"/>
          </a:xfrm>
          <a:prstGeom prst="rect">
            <a:avLst/>
          </a:prstGeom>
          <a:noFill/>
          <a:ln/>
        </p:spPr>
        <p:txBody>
          <a:bodyPr wrap="square" rtlCol="0" anchor="ctr"/>
          <a:lstStyle/>
          <a:p>
            <a:pPr lvl="0" algn="ctr"/>
            <a:r>
              <a:rPr lang="en-US" sz="900" dirty="0">
                <a:solidFill>
                  <a:schemeClr val="bg1">
                    <a:lumMod val="50000"/>
                  </a:schemeClr>
                </a:solidFill>
              </a:rPr>
              <a:t>PCS24PJ41 Project - Second Review Presentation 2025- 2026</a:t>
            </a:r>
          </a:p>
        </p:txBody>
      </p:sp>
      <p:sp>
        <p:nvSpPr>
          <p:cNvPr id="5" name="Text 3"/>
          <p:cNvSpPr/>
          <p:nvPr/>
        </p:nvSpPr>
        <p:spPr>
          <a:xfrm>
            <a:off x="8686800" y="4873752"/>
            <a:ext cx="365760" cy="201168"/>
          </a:xfrm>
          <a:prstGeom prst="rect">
            <a:avLst/>
          </a:prstGeom>
          <a:noFill/>
          <a:ln/>
        </p:spPr>
        <p:txBody>
          <a:bodyPr wrap="square" rtlCol="0" anchor="ctr"/>
          <a:lstStyle/>
          <a:p>
            <a:pPr marL="0" indent="0" algn="r">
              <a:buNone/>
            </a:pPr>
            <a:r>
              <a:rPr lang="en-US" sz="900" dirty="0">
                <a:solidFill>
                  <a:srgbClr val="000000"/>
                </a:solidFill>
                <a:latin typeface="Calibri" pitchFamily="34" charset="0"/>
                <a:ea typeface="Calibri" pitchFamily="34" charset="-122"/>
                <a:cs typeface="Calibri" pitchFamily="34" charset="-120"/>
              </a:rPr>
              <a:t>14</a:t>
            </a:r>
            <a:endParaRPr lang="en-US" sz="900" dirty="0"/>
          </a:p>
        </p:txBody>
      </p:sp>
      <p:sp>
        <p:nvSpPr>
          <p:cNvPr id="6" name="Text 4"/>
          <p:cNvSpPr/>
          <p:nvPr/>
        </p:nvSpPr>
        <p:spPr>
          <a:xfrm>
            <a:off x="457200" y="960120"/>
            <a:ext cx="8229600" cy="365760"/>
          </a:xfrm>
          <a:prstGeom prst="rect">
            <a:avLst/>
          </a:prstGeom>
          <a:noFill/>
          <a:ln/>
        </p:spPr>
        <p:txBody>
          <a:bodyPr wrap="square" rtlCol="0" anchor="ctr"/>
          <a:lstStyle/>
          <a:p>
            <a:r>
              <a:rPr lang="en-IN" sz="1600" b="1" dirty="0">
                <a:solidFill>
                  <a:srgbClr val="000000"/>
                </a:solidFill>
                <a:latin typeface="Times New Roman" panose="02020603050405020304" pitchFamily="18" charset="0"/>
                <a:ea typeface="Calibri" pitchFamily="34" charset="-122"/>
                <a:cs typeface="Times New Roman" panose="02020603050405020304" pitchFamily="18" charset="0"/>
              </a:rPr>
              <a:t>File Encryption and </a:t>
            </a:r>
            <a:r>
              <a:rPr lang="en-IN" sz="1600" b="1" dirty="0">
                <a:solidFill>
                  <a:srgbClr val="000000"/>
                </a:solidFill>
                <a:latin typeface="Times New Roman" panose="02020603050405020304" pitchFamily="18" charset="0"/>
                <a:ea typeface="Calibri" pitchFamily="34" charset="-122"/>
                <a:cs typeface="Times New Roman" panose="02020603050405020304" pitchFamily="18" charset="0"/>
              </a:rPr>
              <a:t>Processing:</a:t>
            </a:r>
            <a:endParaRPr lang="en-US" sz="1600" b="1" dirty="0">
              <a:solidFill>
                <a:srgbClr val="000000"/>
              </a:solidFill>
              <a:latin typeface="Times New Roman" panose="02020603050405020304" pitchFamily="18" charset="0"/>
              <a:ea typeface="Calibri" pitchFamily="34" charset="-122"/>
              <a:cs typeface="Times New Roman" panose="02020603050405020304" pitchFamily="18" charset="0"/>
            </a:endParaRPr>
          </a:p>
        </p:txBody>
      </p:sp>
      <p:sp>
        <p:nvSpPr>
          <p:cNvPr id="7" name="Text 5"/>
          <p:cNvSpPr/>
          <p:nvPr/>
        </p:nvSpPr>
        <p:spPr>
          <a:xfrm>
            <a:off x="457200" y="4297680"/>
            <a:ext cx="8229600" cy="1554480"/>
          </a:xfrm>
          <a:prstGeom prst="rect">
            <a:avLst/>
          </a:prstGeom>
          <a:noFill/>
          <a:ln/>
        </p:spPr>
        <p:txBody>
          <a:bodyPr wrap="square" rtlCol="0" anchor="t"/>
          <a:lstStyle/>
          <a:p>
            <a:pPr algn="just"/>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This interface shows a secure cloud system where a file is divided into blocks and each block is encrypted before being submitted and stored securely in the cloud.</a:t>
            </a:r>
          </a:p>
        </p:txBody>
      </p:sp>
      <p:pic>
        <p:nvPicPr>
          <p:cNvPr id="8" name="Google Shape;95;p1" descr="Thiagarajar College (@ThiagarajarArts) | Twitter"/>
          <p:cNvPicPr preferRelativeResize="0"/>
          <p:nvPr/>
        </p:nvPicPr>
        <p:blipFill rotWithShape="1">
          <a:blip r:embed="rId3">
            <a:alphaModFix/>
          </a:blip>
          <a:srcRect/>
          <a:stretch/>
        </p:blipFill>
        <p:spPr>
          <a:xfrm>
            <a:off x="4122682" y="68580"/>
            <a:ext cx="512379" cy="420151"/>
          </a:xfrm>
          <a:prstGeom prst="rect">
            <a:avLst/>
          </a:prstGeom>
          <a:noFill/>
          <a:ln>
            <a:noFill/>
          </a:ln>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5760" y="1325880"/>
            <a:ext cx="8229600" cy="2971800"/>
          </a:xfrm>
          <a:prstGeom prst="rect">
            <a:avLst/>
          </a:prstGeom>
        </p:spPr>
      </p:pic>
    </p:spTree>
    <p:extLst>
      <p:ext uri="{BB962C8B-B14F-4D97-AF65-F5344CB8AC3E}">
        <p14:creationId xmlns:p14="http://schemas.microsoft.com/office/powerpoint/2010/main" val="23134021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386254"/>
            <a:ext cx="8412480" cy="654270"/>
          </a:xfrm>
          <a:prstGeom prst="rect">
            <a:avLst/>
          </a:prstGeom>
          <a:noFill/>
          <a:ln/>
        </p:spPr>
        <p:txBody>
          <a:bodyPr wrap="square" rtlCol="0" anchor="ctr"/>
          <a:lstStyle/>
          <a:p>
            <a:pPr marL="0" indent="0">
              <a:buNone/>
            </a:pPr>
            <a:r>
              <a:rPr lang="en-US" sz="2800" b="1" u="sng" dirty="0">
                <a:solidFill>
                  <a:srgbClr val="000000"/>
                </a:solidFill>
                <a:latin typeface="Times New Roman" panose="02020603050405020304" pitchFamily="18" charset="0"/>
                <a:ea typeface="Calibri" pitchFamily="34" charset="-122"/>
                <a:cs typeface="Times New Roman" panose="02020603050405020304" pitchFamily="18" charset="0"/>
              </a:rPr>
              <a:t>SAMPLE SCREENSHOTS</a:t>
            </a:r>
            <a:endParaRPr lang="en-US" sz="2800" dirty="0">
              <a:latin typeface="Times New Roman" panose="02020603050405020304" pitchFamily="18" charset="0"/>
              <a:cs typeface="Times New Roman" panose="02020603050405020304" pitchFamily="18" charset="0"/>
            </a:endParaRPr>
          </a:p>
        </p:txBody>
      </p:sp>
      <p:sp>
        <p:nvSpPr>
          <p:cNvPr id="3" name="Text 1"/>
          <p:cNvSpPr/>
          <p:nvPr/>
        </p:nvSpPr>
        <p:spPr>
          <a:xfrm>
            <a:off x="274320" y="4873752"/>
            <a:ext cx="1371600" cy="201168"/>
          </a:xfrm>
          <a:prstGeom prst="rect">
            <a:avLst/>
          </a:prstGeom>
          <a:noFill/>
          <a:ln/>
        </p:spPr>
        <p:txBody>
          <a:bodyPr wrap="square" rtlCol="0" anchor="ctr"/>
          <a:lstStyle/>
          <a:p>
            <a:r>
              <a:rPr lang="en-US" sz="900" dirty="0">
                <a:solidFill>
                  <a:schemeClr val="bg1">
                    <a:lumMod val="50000"/>
                  </a:schemeClr>
                </a:solidFill>
                <a:latin typeface="Calibri" pitchFamily="34" charset="0"/>
                <a:ea typeface="Calibri" pitchFamily="34" charset="-122"/>
                <a:cs typeface="Calibri" pitchFamily="34" charset="-120"/>
              </a:rPr>
              <a:t>11/03/2026</a:t>
            </a:r>
            <a:endParaRPr lang="en-US" sz="900" dirty="0">
              <a:solidFill>
                <a:schemeClr val="bg1">
                  <a:lumMod val="50000"/>
                </a:schemeClr>
              </a:solidFill>
            </a:endParaRPr>
          </a:p>
        </p:txBody>
      </p:sp>
      <p:sp>
        <p:nvSpPr>
          <p:cNvPr id="4" name="Text 2"/>
          <p:cNvSpPr/>
          <p:nvPr/>
        </p:nvSpPr>
        <p:spPr>
          <a:xfrm>
            <a:off x="1828800" y="4873752"/>
            <a:ext cx="5486400" cy="201168"/>
          </a:xfrm>
          <a:prstGeom prst="rect">
            <a:avLst/>
          </a:prstGeom>
          <a:noFill/>
          <a:ln/>
        </p:spPr>
        <p:txBody>
          <a:bodyPr wrap="square" rtlCol="0" anchor="ctr"/>
          <a:lstStyle/>
          <a:p>
            <a:pPr lvl="0" algn="ctr"/>
            <a:r>
              <a:rPr lang="en-US" sz="900" dirty="0">
                <a:solidFill>
                  <a:schemeClr val="bg1">
                    <a:lumMod val="50000"/>
                  </a:schemeClr>
                </a:solidFill>
              </a:rPr>
              <a:t>PCS24PJ41 Project - Second Review Presentation 2025- 2026</a:t>
            </a:r>
          </a:p>
        </p:txBody>
      </p:sp>
      <p:sp>
        <p:nvSpPr>
          <p:cNvPr id="5" name="Text 3"/>
          <p:cNvSpPr/>
          <p:nvPr/>
        </p:nvSpPr>
        <p:spPr>
          <a:xfrm>
            <a:off x="8686800" y="4873752"/>
            <a:ext cx="365760" cy="201168"/>
          </a:xfrm>
          <a:prstGeom prst="rect">
            <a:avLst/>
          </a:prstGeom>
          <a:noFill/>
          <a:ln/>
        </p:spPr>
        <p:txBody>
          <a:bodyPr wrap="square" rtlCol="0" anchor="ctr"/>
          <a:lstStyle/>
          <a:p>
            <a:pPr marL="0" indent="0" algn="r">
              <a:buNone/>
            </a:pPr>
            <a:r>
              <a:rPr lang="en-US" sz="900" dirty="0">
                <a:solidFill>
                  <a:srgbClr val="000000"/>
                </a:solidFill>
                <a:latin typeface="Calibri" pitchFamily="34" charset="0"/>
                <a:ea typeface="Calibri" pitchFamily="34" charset="-122"/>
                <a:cs typeface="Calibri" pitchFamily="34" charset="-120"/>
              </a:rPr>
              <a:t>14</a:t>
            </a:r>
            <a:endParaRPr lang="en-US" sz="900" dirty="0"/>
          </a:p>
        </p:txBody>
      </p:sp>
      <p:sp>
        <p:nvSpPr>
          <p:cNvPr id="6" name="Text 4"/>
          <p:cNvSpPr/>
          <p:nvPr/>
        </p:nvSpPr>
        <p:spPr>
          <a:xfrm>
            <a:off x="457200" y="960120"/>
            <a:ext cx="8229600" cy="365760"/>
          </a:xfrm>
          <a:prstGeom prst="rect">
            <a:avLst/>
          </a:prstGeom>
          <a:noFill/>
          <a:ln/>
        </p:spPr>
        <p:txBody>
          <a:bodyPr wrap="square" rtlCol="0" anchor="ctr"/>
          <a:lstStyle/>
          <a:p>
            <a:r>
              <a:rPr lang="en-IN" sz="1600" b="1" dirty="0">
                <a:solidFill>
                  <a:srgbClr val="000000"/>
                </a:solidFill>
                <a:latin typeface="Times New Roman" panose="02020603050405020304" pitchFamily="18" charset="0"/>
                <a:ea typeface="Calibri" pitchFamily="34" charset="-122"/>
                <a:cs typeface="Times New Roman" panose="02020603050405020304" pitchFamily="18" charset="0"/>
              </a:rPr>
              <a:t>File Block Access </a:t>
            </a:r>
            <a:r>
              <a:rPr lang="en-IN" sz="1600" b="1" dirty="0">
                <a:solidFill>
                  <a:srgbClr val="000000"/>
                </a:solidFill>
                <a:latin typeface="Times New Roman" panose="02020603050405020304" pitchFamily="18" charset="0"/>
                <a:ea typeface="Calibri" pitchFamily="34" charset="-122"/>
                <a:cs typeface="Times New Roman" panose="02020603050405020304" pitchFamily="18" charset="0"/>
              </a:rPr>
              <a:t>Request:</a:t>
            </a:r>
            <a:endParaRPr lang="en-US" sz="1600" b="1" dirty="0">
              <a:solidFill>
                <a:srgbClr val="000000"/>
              </a:solidFill>
              <a:latin typeface="Times New Roman" panose="02020603050405020304" pitchFamily="18" charset="0"/>
              <a:ea typeface="Calibri" pitchFamily="34" charset="-122"/>
              <a:cs typeface="Times New Roman" panose="02020603050405020304" pitchFamily="18" charset="0"/>
            </a:endParaRPr>
          </a:p>
        </p:txBody>
      </p:sp>
      <p:sp>
        <p:nvSpPr>
          <p:cNvPr id="7" name="Text 5"/>
          <p:cNvSpPr/>
          <p:nvPr/>
        </p:nvSpPr>
        <p:spPr>
          <a:xfrm>
            <a:off x="457200" y="4297680"/>
            <a:ext cx="8229600" cy="1554480"/>
          </a:xfrm>
          <a:prstGeom prst="rect">
            <a:avLst/>
          </a:prstGeom>
          <a:noFill/>
          <a:ln/>
        </p:spPr>
        <p:txBody>
          <a:bodyPr wrap="square" rtlCol="0" anchor="t"/>
          <a:lstStyle/>
          <a:p>
            <a:pPr algn="just"/>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TPA dashboard where encrypted file blocks are displayed with binary storage and verification tokens, allowing the auditor to request access for verification.</a:t>
            </a:r>
          </a:p>
        </p:txBody>
      </p:sp>
      <p:pic>
        <p:nvPicPr>
          <p:cNvPr id="8" name="Google Shape;95;p1" descr="Thiagarajar College (@ThiagarajarArts) | Twitter"/>
          <p:cNvPicPr preferRelativeResize="0"/>
          <p:nvPr/>
        </p:nvPicPr>
        <p:blipFill rotWithShape="1">
          <a:blip r:embed="rId3">
            <a:alphaModFix/>
          </a:blip>
          <a:srcRect/>
          <a:stretch/>
        </p:blipFill>
        <p:spPr>
          <a:xfrm>
            <a:off x="4122682" y="68580"/>
            <a:ext cx="512379" cy="420151"/>
          </a:xfrm>
          <a:prstGeom prst="rect">
            <a:avLst/>
          </a:prstGeom>
          <a:noFill/>
          <a:ln>
            <a:noFill/>
          </a:ln>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5760" y="1325880"/>
            <a:ext cx="8138160" cy="2971800"/>
          </a:xfrm>
          <a:prstGeom prst="rect">
            <a:avLst/>
          </a:prstGeom>
        </p:spPr>
      </p:pic>
    </p:spTree>
    <p:extLst>
      <p:ext uri="{BB962C8B-B14F-4D97-AF65-F5344CB8AC3E}">
        <p14:creationId xmlns:p14="http://schemas.microsoft.com/office/powerpoint/2010/main" val="324930901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386254"/>
            <a:ext cx="8412480" cy="654270"/>
          </a:xfrm>
          <a:prstGeom prst="rect">
            <a:avLst/>
          </a:prstGeom>
          <a:noFill/>
          <a:ln/>
        </p:spPr>
        <p:txBody>
          <a:bodyPr wrap="square" rtlCol="0" anchor="ctr"/>
          <a:lstStyle/>
          <a:p>
            <a:pPr marL="0" indent="0">
              <a:buNone/>
            </a:pPr>
            <a:r>
              <a:rPr lang="en-US" sz="2800" b="1" u="sng" dirty="0">
                <a:solidFill>
                  <a:srgbClr val="000000"/>
                </a:solidFill>
                <a:latin typeface="Times New Roman" panose="02020603050405020304" pitchFamily="18" charset="0"/>
                <a:ea typeface="Calibri" pitchFamily="34" charset="-122"/>
                <a:cs typeface="Times New Roman" panose="02020603050405020304" pitchFamily="18" charset="0"/>
              </a:rPr>
              <a:t>SAMPLE SCREENSHOTS</a:t>
            </a:r>
            <a:endParaRPr lang="en-US" sz="2800" dirty="0">
              <a:latin typeface="Times New Roman" panose="02020603050405020304" pitchFamily="18" charset="0"/>
              <a:cs typeface="Times New Roman" panose="02020603050405020304" pitchFamily="18" charset="0"/>
            </a:endParaRPr>
          </a:p>
        </p:txBody>
      </p:sp>
      <p:sp>
        <p:nvSpPr>
          <p:cNvPr id="3" name="Text 1"/>
          <p:cNvSpPr/>
          <p:nvPr/>
        </p:nvSpPr>
        <p:spPr>
          <a:xfrm>
            <a:off x="274320" y="4873752"/>
            <a:ext cx="1371600" cy="201168"/>
          </a:xfrm>
          <a:prstGeom prst="rect">
            <a:avLst/>
          </a:prstGeom>
          <a:noFill/>
          <a:ln/>
        </p:spPr>
        <p:txBody>
          <a:bodyPr wrap="square" rtlCol="0" anchor="ctr"/>
          <a:lstStyle/>
          <a:p>
            <a:r>
              <a:rPr lang="en-US" sz="900" dirty="0">
                <a:solidFill>
                  <a:schemeClr val="bg1">
                    <a:lumMod val="50000"/>
                  </a:schemeClr>
                </a:solidFill>
                <a:latin typeface="Calibri" pitchFamily="34" charset="0"/>
                <a:ea typeface="Calibri" pitchFamily="34" charset="-122"/>
                <a:cs typeface="Calibri" pitchFamily="34" charset="-120"/>
              </a:rPr>
              <a:t>11/03/2026</a:t>
            </a:r>
            <a:endParaRPr lang="en-US" sz="900" dirty="0">
              <a:solidFill>
                <a:schemeClr val="bg1">
                  <a:lumMod val="50000"/>
                </a:schemeClr>
              </a:solidFill>
            </a:endParaRPr>
          </a:p>
        </p:txBody>
      </p:sp>
      <p:sp>
        <p:nvSpPr>
          <p:cNvPr id="4" name="Text 2"/>
          <p:cNvSpPr/>
          <p:nvPr/>
        </p:nvSpPr>
        <p:spPr>
          <a:xfrm>
            <a:off x="1828800" y="4873752"/>
            <a:ext cx="5486400" cy="201168"/>
          </a:xfrm>
          <a:prstGeom prst="rect">
            <a:avLst/>
          </a:prstGeom>
          <a:noFill/>
          <a:ln/>
        </p:spPr>
        <p:txBody>
          <a:bodyPr wrap="square" rtlCol="0" anchor="ctr"/>
          <a:lstStyle/>
          <a:p>
            <a:pPr lvl="0" algn="ctr"/>
            <a:r>
              <a:rPr lang="en-US" sz="900" dirty="0">
                <a:solidFill>
                  <a:schemeClr val="bg1">
                    <a:lumMod val="50000"/>
                  </a:schemeClr>
                </a:solidFill>
              </a:rPr>
              <a:t>PCS24PJ41 Project - Second Review Presentation 2025- 2026</a:t>
            </a:r>
          </a:p>
        </p:txBody>
      </p:sp>
      <p:sp>
        <p:nvSpPr>
          <p:cNvPr id="5" name="Text 3"/>
          <p:cNvSpPr/>
          <p:nvPr/>
        </p:nvSpPr>
        <p:spPr>
          <a:xfrm>
            <a:off x="8686800" y="4873752"/>
            <a:ext cx="365760" cy="201168"/>
          </a:xfrm>
          <a:prstGeom prst="rect">
            <a:avLst/>
          </a:prstGeom>
          <a:noFill/>
          <a:ln/>
        </p:spPr>
        <p:txBody>
          <a:bodyPr wrap="square" rtlCol="0" anchor="ctr"/>
          <a:lstStyle/>
          <a:p>
            <a:pPr marL="0" indent="0" algn="r">
              <a:buNone/>
            </a:pPr>
            <a:r>
              <a:rPr lang="en-US" sz="900" dirty="0">
                <a:solidFill>
                  <a:srgbClr val="000000"/>
                </a:solidFill>
                <a:latin typeface="Calibri" pitchFamily="34" charset="0"/>
                <a:ea typeface="Calibri" pitchFamily="34" charset="-122"/>
                <a:cs typeface="Calibri" pitchFamily="34" charset="-120"/>
              </a:rPr>
              <a:t>14</a:t>
            </a:r>
            <a:endParaRPr lang="en-US" sz="900" dirty="0"/>
          </a:p>
        </p:txBody>
      </p:sp>
      <p:sp>
        <p:nvSpPr>
          <p:cNvPr id="6" name="Text 4"/>
          <p:cNvSpPr/>
          <p:nvPr/>
        </p:nvSpPr>
        <p:spPr>
          <a:xfrm>
            <a:off x="457200" y="960120"/>
            <a:ext cx="8229600" cy="365760"/>
          </a:xfrm>
          <a:prstGeom prst="rect">
            <a:avLst/>
          </a:prstGeom>
          <a:noFill/>
          <a:ln/>
        </p:spPr>
        <p:txBody>
          <a:bodyPr wrap="square" rtlCol="0" anchor="ctr"/>
          <a:lstStyle/>
          <a:p>
            <a:r>
              <a:rPr lang="en-IN" sz="1600" b="1" dirty="0">
                <a:solidFill>
                  <a:srgbClr val="000000"/>
                </a:solidFill>
                <a:latin typeface="Times New Roman" panose="02020603050405020304" pitchFamily="18" charset="0"/>
                <a:ea typeface="Calibri" pitchFamily="34" charset="-122"/>
                <a:cs typeface="Times New Roman" panose="02020603050405020304" pitchFamily="18" charset="0"/>
              </a:rPr>
              <a:t>Secure File </a:t>
            </a:r>
            <a:r>
              <a:rPr lang="en-IN" sz="1600" b="1" dirty="0">
                <a:solidFill>
                  <a:srgbClr val="000000"/>
                </a:solidFill>
                <a:latin typeface="Times New Roman" panose="02020603050405020304" pitchFamily="18" charset="0"/>
                <a:ea typeface="Calibri" pitchFamily="34" charset="-122"/>
                <a:cs typeface="Times New Roman" panose="02020603050405020304" pitchFamily="18" charset="0"/>
              </a:rPr>
              <a:t>Upload:</a:t>
            </a:r>
            <a:endParaRPr lang="en-US" sz="1600" b="1" dirty="0">
              <a:solidFill>
                <a:srgbClr val="000000"/>
              </a:solidFill>
              <a:latin typeface="Times New Roman" panose="02020603050405020304" pitchFamily="18" charset="0"/>
              <a:ea typeface="Calibri" pitchFamily="34" charset="-122"/>
              <a:cs typeface="Times New Roman" panose="02020603050405020304" pitchFamily="18" charset="0"/>
            </a:endParaRPr>
          </a:p>
        </p:txBody>
      </p:sp>
      <p:sp>
        <p:nvSpPr>
          <p:cNvPr id="7" name="Text 5"/>
          <p:cNvSpPr/>
          <p:nvPr/>
        </p:nvSpPr>
        <p:spPr>
          <a:xfrm>
            <a:off x="457200" y="4297680"/>
            <a:ext cx="8229600" cy="1554480"/>
          </a:xfrm>
          <a:prstGeom prst="rect">
            <a:avLst/>
          </a:prstGeom>
          <a:noFill/>
          <a:ln/>
        </p:spPr>
        <p:txBody>
          <a:bodyPr wrap="square" rtlCol="0" anchor="t"/>
          <a:lstStyle/>
          <a:p>
            <a:pPr algn="just"/>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This page allows users to upload a text file with a description and visibility option so the document can be encrypted and securely stored in the cloud.</a:t>
            </a:r>
          </a:p>
        </p:txBody>
      </p:sp>
      <p:pic>
        <p:nvPicPr>
          <p:cNvPr id="8" name="Google Shape;95;p1" descr="Thiagarajar College (@ThiagarajarArts) | Twitter"/>
          <p:cNvPicPr preferRelativeResize="0"/>
          <p:nvPr/>
        </p:nvPicPr>
        <p:blipFill rotWithShape="1">
          <a:blip r:embed="rId3">
            <a:alphaModFix/>
          </a:blip>
          <a:srcRect/>
          <a:stretch/>
        </p:blipFill>
        <p:spPr>
          <a:xfrm>
            <a:off x="4122682" y="68580"/>
            <a:ext cx="512379" cy="420151"/>
          </a:xfrm>
          <a:prstGeom prst="rect">
            <a:avLst/>
          </a:prstGeom>
          <a:noFill/>
          <a:ln>
            <a:noFill/>
          </a:ln>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5239" y="1259195"/>
            <a:ext cx="8083296" cy="3038485"/>
          </a:xfrm>
          <a:prstGeom prst="rect">
            <a:avLst/>
          </a:prstGeom>
        </p:spPr>
      </p:pic>
    </p:spTree>
    <p:extLst>
      <p:ext uri="{BB962C8B-B14F-4D97-AF65-F5344CB8AC3E}">
        <p14:creationId xmlns:p14="http://schemas.microsoft.com/office/powerpoint/2010/main" val="84610268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386254"/>
            <a:ext cx="8412480" cy="654270"/>
          </a:xfrm>
          <a:prstGeom prst="rect">
            <a:avLst/>
          </a:prstGeom>
          <a:noFill/>
          <a:ln/>
        </p:spPr>
        <p:txBody>
          <a:bodyPr wrap="square" rtlCol="0" anchor="ctr"/>
          <a:lstStyle/>
          <a:p>
            <a:pPr marL="0" indent="0">
              <a:buNone/>
            </a:pPr>
            <a:r>
              <a:rPr lang="en-US" sz="2800" b="1" u="sng" dirty="0">
                <a:solidFill>
                  <a:srgbClr val="000000"/>
                </a:solidFill>
                <a:latin typeface="Times New Roman" panose="02020603050405020304" pitchFamily="18" charset="0"/>
                <a:ea typeface="Calibri" pitchFamily="34" charset="-122"/>
                <a:cs typeface="Times New Roman" panose="02020603050405020304" pitchFamily="18" charset="0"/>
              </a:rPr>
              <a:t>SAMPLE SCREENSHOTS</a:t>
            </a:r>
            <a:endParaRPr lang="en-US" sz="2800" dirty="0">
              <a:latin typeface="Times New Roman" panose="02020603050405020304" pitchFamily="18" charset="0"/>
              <a:cs typeface="Times New Roman" panose="02020603050405020304" pitchFamily="18" charset="0"/>
            </a:endParaRPr>
          </a:p>
        </p:txBody>
      </p:sp>
      <p:sp>
        <p:nvSpPr>
          <p:cNvPr id="3" name="Text 1"/>
          <p:cNvSpPr/>
          <p:nvPr/>
        </p:nvSpPr>
        <p:spPr>
          <a:xfrm>
            <a:off x="274320" y="4873752"/>
            <a:ext cx="1371600" cy="201168"/>
          </a:xfrm>
          <a:prstGeom prst="rect">
            <a:avLst/>
          </a:prstGeom>
          <a:noFill/>
          <a:ln/>
        </p:spPr>
        <p:txBody>
          <a:bodyPr wrap="square" rtlCol="0" anchor="ctr"/>
          <a:lstStyle/>
          <a:p>
            <a:r>
              <a:rPr lang="en-US" sz="900" dirty="0">
                <a:solidFill>
                  <a:schemeClr val="bg1">
                    <a:lumMod val="50000"/>
                  </a:schemeClr>
                </a:solidFill>
                <a:latin typeface="Calibri" pitchFamily="34" charset="0"/>
                <a:ea typeface="Calibri" pitchFamily="34" charset="-122"/>
                <a:cs typeface="Calibri" pitchFamily="34" charset="-120"/>
              </a:rPr>
              <a:t>11/03/2026</a:t>
            </a:r>
            <a:endParaRPr lang="en-US" sz="900" dirty="0">
              <a:solidFill>
                <a:schemeClr val="bg1">
                  <a:lumMod val="50000"/>
                </a:schemeClr>
              </a:solidFill>
            </a:endParaRPr>
          </a:p>
        </p:txBody>
      </p:sp>
      <p:sp>
        <p:nvSpPr>
          <p:cNvPr id="4" name="Text 2"/>
          <p:cNvSpPr/>
          <p:nvPr/>
        </p:nvSpPr>
        <p:spPr>
          <a:xfrm>
            <a:off x="1828800" y="4873752"/>
            <a:ext cx="5486400" cy="201168"/>
          </a:xfrm>
          <a:prstGeom prst="rect">
            <a:avLst/>
          </a:prstGeom>
          <a:noFill/>
          <a:ln/>
        </p:spPr>
        <p:txBody>
          <a:bodyPr wrap="square" rtlCol="0" anchor="ctr"/>
          <a:lstStyle/>
          <a:p>
            <a:pPr lvl="0" algn="ctr"/>
            <a:r>
              <a:rPr lang="en-US" sz="900" dirty="0">
                <a:solidFill>
                  <a:schemeClr val="bg1">
                    <a:lumMod val="50000"/>
                  </a:schemeClr>
                </a:solidFill>
              </a:rPr>
              <a:t>PCS24PJ41 Project - Second Review Presentation 2025- 2026</a:t>
            </a:r>
          </a:p>
        </p:txBody>
      </p:sp>
      <p:sp>
        <p:nvSpPr>
          <p:cNvPr id="5" name="Text 3"/>
          <p:cNvSpPr/>
          <p:nvPr/>
        </p:nvSpPr>
        <p:spPr>
          <a:xfrm>
            <a:off x="8686800" y="4873752"/>
            <a:ext cx="365760" cy="201168"/>
          </a:xfrm>
          <a:prstGeom prst="rect">
            <a:avLst/>
          </a:prstGeom>
          <a:noFill/>
          <a:ln/>
        </p:spPr>
        <p:txBody>
          <a:bodyPr wrap="square" rtlCol="0" anchor="ctr"/>
          <a:lstStyle/>
          <a:p>
            <a:pPr marL="0" indent="0" algn="r">
              <a:buNone/>
            </a:pPr>
            <a:r>
              <a:rPr lang="en-US" sz="900" dirty="0">
                <a:solidFill>
                  <a:srgbClr val="000000"/>
                </a:solidFill>
                <a:latin typeface="Calibri" pitchFamily="34" charset="0"/>
                <a:ea typeface="Calibri" pitchFamily="34" charset="-122"/>
                <a:cs typeface="Calibri" pitchFamily="34" charset="-120"/>
              </a:rPr>
              <a:t>14</a:t>
            </a:r>
            <a:endParaRPr lang="en-US" sz="900" dirty="0"/>
          </a:p>
        </p:txBody>
      </p:sp>
      <p:sp>
        <p:nvSpPr>
          <p:cNvPr id="6" name="Text 4"/>
          <p:cNvSpPr/>
          <p:nvPr/>
        </p:nvSpPr>
        <p:spPr>
          <a:xfrm>
            <a:off x="457200" y="960120"/>
            <a:ext cx="8229600" cy="365760"/>
          </a:xfrm>
          <a:prstGeom prst="rect">
            <a:avLst/>
          </a:prstGeom>
          <a:noFill/>
          <a:ln/>
        </p:spPr>
        <p:txBody>
          <a:bodyPr wrap="square" rtlCol="0" anchor="ctr"/>
          <a:lstStyle/>
          <a:p>
            <a:r>
              <a:rPr lang="en-US" sz="1600" b="1" dirty="0">
                <a:solidFill>
                  <a:srgbClr val="000000"/>
                </a:solidFill>
                <a:latin typeface="Times New Roman" panose="02020603050405020304" pitchFamily="18" charset="0"/>
                <a:ea typeface="Calibri" pitchFamily="34" charset="-122"/>
                <a:cs typeface="Times New Roman" panose="02020603050405020304" pitchFamily="18" charset="0"/>
              </a:rPr>
              <a:t>Security Check for File </a:t>
            </a:r>
            <a:r>
              <a:rPr lang="en-US" sz="1600" b="1" dirty="0">
                <a:solidFill>
                  <a:srgbClr val="000000"/>
                </a:solidFill>
                <a:latin typeface="Times New Roman" panose="02020603050405020304" pitchFamily="18" charset="0"/>
                <a:ea typeface="Calibri" pitchFamily="34" charset="-122"/>
                <a:cs typeface="Times New Roman" panose="02020603050405020304" pitchFamily="18" charset="0"/>
              </a:rPr>
              <a:t>Download:</a:t>
            </a:r>
            <a:endParaRPr lang="en-US" sz="1600" b="1" dirty="0">
              <a:solidFill>
                <a:srgbClr val="000000"/>
              </a:solidFill>
              <a:latin typeface="Times New Roman" panose="02020603050405020304" pitchFamily="18" charset="0"/>
              <a:ea typeface="Calibri" pitchFamily="34" charset="-122"/>
              <a:cs typeface="Times New Roman" panose="02020603050405020304" pitchFamily="18" charset="0"/>
            </a:endParaRPr>
          </a:p>
        </p:txBody>
      </p:sp>
      <p:sp>
        <p:nvSpPr>
          <p:cNvPr id="7" name="Text 5"/>
          <p:cNvSpPr/>
          <p:nvPr/>
        </p:nvSpPr>
        <p:spPr>
          <a:xfrm>
            <a:off x="457200" y="4297680"/>
            <a:ext cx="8229600" cy="1554480"/>
          </a:xfrm>
          <a:prstGeom prst="rect">
            <a:avLst/>
          </a:prstGeom>
          <a:noFill/>
          <a:ln/>
        </p:spPr>
        <p:txBody>
          <a:bodyPr wrap="square" rtlCol="0" anchor="t"/>
          <a:lstStyle/>
          <a:p>
            <a:pPr algn="just"/>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This screen shows a security verification step where the user enters an email access key to verify identity before downloading the file securely. </a:t>
            </a:r>
          </a:p>
        </p:txBody>
      </p:sp>
      <p:pic>
        <p:nvPicPr>
          <p:cNvPr id="8" name="Google Shape;95;p1" descr="Thiagarajar College (@ThiagarajarArts) | Twitter"/>
          <p:cNvPicPr preferRelativeResize="0"/>
          <p:nvPr/>
        </p:nvPicPr>
        <p:blipFill rotWithShape="1">
          <a:blip r:embed="rId3">
            <a:alphaModFix/>
          </a:blip>
          <a:srcRect/>
          <a:stretch/>
        </p:blipFill>
        <p:spPr>
          <a:xfrm>
            <a:off x="4122682" y="68580"/>
            <a:ext cx="512379" cy="420151"/>
          </a:xfrm>
          <a:prstGeom prst="rect">
            <a:avLst/>
          </a:prstGeom>
          <a:noFill/>
          <a:ln>
            <a:noFill/>
          </a:ln>
        </p:spPr>
      </p:pic>
      <p:pic>
        <p:nvPicPr>
          <p:cNvPr id="10" name="Picture 9"/>
          <p:cNvPicPr>
            <a:picLocks noChangeAspect="1"/>
          </p:cNvPicPr>
          <p:nvPr/>
        </p:nvPicPr>
        <p:blipFill rotWithShape="1">
          <a:blip r:embed="rId4">
            <a:extLst>
              <a:ext uri="{28A0092B-C50C-407E-A947-70E740481C1C}">
                <a14:useLocalDpi xmlns:a14="http://schemas.microsoft.com/office/drawing/2010/main" val="0"/>
              </a:ext>
            </a:extLst>
          </a:blip>
          <a:srcRect t="11176" b="21812"/>
          <a:stretch/>
        </p:blipFill>
        <p:spPr>
          <a:xfrm>
            <a:off x="457200" y="1325880"/>
            <a:ext cx="8229600" cy="2971800"/>
          </a:xfrm>
          <a:prstGeom prst="rect">
            <a:avLst/>
          </a:prstGeom>
        </p:spPr>
      </p:pic>
    </p:spTree>
    <p:extLst>
      <p:ext uri="{BB962C8B-B14F-4D97-AF65-F5344CB8AC3E}">
        <p14:creationId xmlns:p14="http://schemas.microsoft.com/office/powerpoint/2010/main" val="206425926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386254"/>
            <a:ext cx="8412480" cy="654270"/>
          </a:xfrm>
          <a:prstGeom prst="rect">
            <a:avLst/>
          </a:prstGeom>
          <a:noFill/>
          <a:ln/>
        </p:spPr>
        <p:txBody>
          <a:bodyPr wrap="square" rtlCol="0" anchor="ctr"/>
          <a:lstStyle/>
          <a:p>
            <a:pPr marL="0" indent="0">
              <a:buNone/>
            </a:pPr>
            <a:r>
              <a:rPr lang="en-US" sz="2800" b="1" u="sng" dirty="0">
                <a:solidFill>
                  <a:srgbClr val="000000"/>
                </a:solidFill>
                <a:latin typeface="Times New Roman" panose="02020603050405020304" pitchFamily="18" charset="0"/>
                <a:ea typeface="Calibri" pitchFamily="34" charset="-122"/>
                <a:cs typeface="Times New Roman" panose="02020603050405020304" pitchFamily="18" charset="0"/>
              </a:rPr>
              <a:t>SAMPLE SCREENSHOTS</a:t>
            </a:r>
            <a:endParaRPr lang="en-US" sz="2800" dirty="0">
              <a:latin typeface="Times New Roman" panose="02020603050405020304" pitchFamily="18" charset="0"/>
              <a:cs typeface="Times New Roman" panose="02020603050405020304" pitchFamily="18" charset="0"/>
            </a:endParaRPr>
          </a:p>
        </p:txBody>
      </p:sp>
      <p:sp>
        <p:nvSpPr>
          <p:cNvPr id="3" name="Text 1"/>
          <p:cNvSpPr/>
          <p:nvPr/>
        </p:nvSpPr>
        <p:spPr>
          <a:xfrm>
            <a:off x="274320" y="4873752"/>
            <a:ext cx="1371600" cy="201168"/>
          </a:xfrm>
          <a:prstGeom prst="rect">
            <a:avLst/>
          </a:prstGeom>
          <a:noFill/>
          <a:ln/>
        </p:spPr>
        <p:txBody>
          <a:bodyPr wrap="square" rtlCol="0" anchor="ctr"/>
          <a:lstStyle/>
          <a:p>
            <a:r>
              <a:rPr lang="en-US" sz="900" dirty="0">
                <a:solidFill>
                  <a:schemeClr val="bg1">
                    <a:lumMod val="50000"/>
                  </a:schemeClr>
                </a:solidFill>
                <a:latin typeface="Calibri" pitchFamily="34" charset="0"/>
                <a:ea typeface="Calibri" pitchFamily="34" charset="-122"/>
                <a:cs typeface="Calibri" pitchFamily="34" charset="-120"/>
              </a:rPr>
              <a:t>11/03/2026</a:t>
            </a:r>
            <a:endParaRPr lang="en-US" sz="900" dirty="0">
              <a:solidFill>
                <a:schemeClr val="bg1">
                  <a:lumMod val="50000"/>
                </a:schemeClr>
              </a:solidFill>
            </a:endParaRPr>
          </a:p>
        </p:txBody>
      </p:sp>
      <p:sp>
        <p:nvSpPr>
          <p:cNvPr id="4" name="Text 2"/>
          <p:cNvSpPr/>
          <p:nvPr/>
        </p:nvSpPr>
        <p:spPr>
          <a:xfrm>
            <a:off x="1828800" y="4873752"/>
            <a:ext cx="5486400" cy="201168"/>
          </a:xfrm>
          <a:prstGeom prst="rect">
            <a:avLst/>
          </a:prstGeom>
          <a:noFill/>
          <a:ln/>
        </p:spPr>
        <p:txBody>
          <a:bodyPr wrap="square" rtlCol="0" anchor="ctr"/>
          <a:lstStyle/>
          <a:p>
            <a:pPr lvl="0" algn="ctr"/>
            <a:r>
              <a:rPr lang="en-US" sz="900" dirty="0">
                <a:solidFill>
                  <a:schemeClr val="bg1">
                    <a:lumMod val="50000"/>
                  </a:schemeClr>
                </a:solidFill>
              </a:rPr>
              <a:t>PCS24PJ41 Project - Second Review Presentation 2025- 2026</a:t>
            </a:r>
          </a:p>
        </p:txBody>
      </p:sp>
      <p:sp>
        <p:nvSpPr>
          <p:cNvPr id="5" name="Text 3"/>
          <p:cNvSpPr/>
          <p:nvPr/>
        </p:nvSpPr>
        <p:spPr>
          <a:xfrm>
            <a:off x="8686800" y="4873752"/>
            <a:ext cx="365760" cy="201168"/>
          </a:xfrm>
          <a:prstGeom prst="rect">
            <a:avLst/>
          </a:prstGeom>
          <a:noFill/>
          <a:ln/>
        </p:spPr>
        <p:txBody>
          <a:bodyPr wrap="square" rtlCol="0" anchor="ctr"/>
          <a:lstStyle/>
          <a:p>
            <a:pPr marL="0" indent="0" algn="r">
              <a:buNone/>
            </a:pPr>
            <a:r>
              <a:rPr lang="en-US" sz="900" dirty="0">
                <a:solidFill>
                  <a:srgbClr val="000000"/>
                </a:solidFill>
                <a:latin typeface="Calibri" pitchFamily="34" charset="0"/>
                <a:ea typeface="Calibri" pitchFamily="34" charset="-122"/>
                <a:cs typeface="Calibri" pitchFamily="34" charset="-120"/>
              </a:rPr>
              <a:t>14</a:t>
            </a:r>
            <a:endParaRPr lang="en-US" sz="900" dirty="0"/>
          </a:p>
        </p:txBody>
      </p:sp>
      <p:sp>
        <p:nvSpPr>
          <p:cNvPr id="6" name="Text 4"/>
          <p:cNvSpPr/>
          <p:nvPr/>
        </p:nvSpPr>
        <p:spPr>
          <a:xfrm>
            <a:off x="457200" y="960120"/>
            <a:ext cx="8229600" cy="365760"/>
          </a:xfrm>
          <a:prstGeom prst="rect">
            <a:avLst/>
          </a:prstGeom>
          <a:noFill/>
          <a:ln/>
        </p:spPr>
        <p:txBody>
          <a:bodyPr wrap="square" rtlCol="0" anchor="ctr"/>
          <a:lstStyle/>
          <a:p>
            <a:r>
              <a:rPr lang="en-IN" sz="1600" b="1" dirty="0">
                <a:solidFill>
                  <a:srgbClr val="000000"/>
                </a:solidFill>
                <a:latin typeface="Times New Roman" panose="02020603050405020304" pitchFamily="18" charset="0"/>
                <a:ea typeface="Calibri" pitchFamily="34" charset="-122"/>
                <a:cs typeface="Times New Roman" panose="02020603050405020304" pitchFamily="18" charset="0"/>
              </a:rPr>
              <a:t>File Block Details </a:t>
            </a:r>
            <a:r>
              <a:rPr lang="en-IN" sz="1600" b="1" dirty="0">
                <a:solidFill>
                  <a:srgbClr val="000000"/>
                </a:solidFill>
                <a:latin typeface="Times New Roman" panose="02020603050405020304" pitchFamily="18" charset="0"/>
                <a:ea typeface="Calibri" pitchFamily="34" charset="-122"/>
                <a:cs typeface="Times New Roman" panose="02020603050405020304" pitchFamily="18" charset="0"/>
              </a:rPr>
              <a:t>View:</a:t>
            </a:r>
            <a:endParaRPr lang="en-US" sz="1600" b="1" dirty="0">
              <a:solidFill>
                <a:srgbClr val="000000"/>
              </a:solidFill>
              <a:latin typeface="Times New Roman" panose="02020603050405020304" pitchFamily="18" charset="0"/>
              <a:ea typeface="Calibri" pitchFamily="34" charset="-122"/>
              <a:cs typeface="Times New Roman" panose="02020603050405020304" pitchFamily="18" charset="0"/>
            </a:endParaRPr>
          </a:p>
        </p:txBody>
      </p:sp>
      <p:sp>
        <p:nvSpPr>
          <p:cNvPr id="7" name="Text 5"/>
          <p:cNvSpPr/>
          <p:nvPr/>
        </p:nvSpPr>
        <p:spPr>
          <a:xfrm>
            <a:off x="457200" y="4297680"/>
            <a:ext cx="8229600" cy="1554480"/>
          </a:xfrm>
          <a:prstGeom prst="rect">
            <a:avLst/>
          </a:prstGeom>
          <a:noFill/>
          <a:ln/>
        </p:spPr>
        <p:txBody>
          <a:bodyPr wrap="square" rtlCol="0" anchor="t"/>
          <a:lstStyle/>
          <a:p>
            <a:pPr algn="just"/>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This page displays a file divided into multiple blocks with their binary storage and verification tokens to ensure data integrity in the secure cloud system.</a:t>
            </a:r>
          </a:p>
        </p:txBody>
      </p:sp>
      <p:pic>
        <p:nvPicPr>
          <p:cNvPr id="8" name="Google Shape;95;p1" descr="Thiagarajar College (@ThiagarajarArts) | Twitter"/>
          <p:cNvPicPr preferRelativeResize="0"/>
          <p:nvPr/>
        </p:nvPicPr>
        <p:blipFill rotWithShape="1">
          <a:blip r:embed="rId3">
            <a:alphaModFix/>
          </a:blip>
          <a:srcRect/>
          <a:stretch/>
        </p:blipFill>
        <p:spPr>
          <a:xfrm>
            <a:off x="4122682" y="68580"/>
            <a:ext cx="512379" cy="420151"/>
          </a:xfrm>
          <a:prstGeom prst="rect">
            <a:avLst/>
          </a:prstGeom>
          <a:noFill/>
          <a:ln>
            <a:noFill/>
          </a:ln>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 y="1325880"/>
            <a:ext cx="8129016" cy="2971800"/>
          </a:xfrm>
          <a:prstGeom prst="rect">
            <a:avLst/>
          </a:prstGeom>
        </p:spPr>
      </p:pic>
    </p:spTree>
    <p:extLst>
      <p:ext uri="{BB962C8B-B14F-4D97-AF65-F5344CB8AC3E}">
        <p14:creationId xmlns:p14="http://schemas.microsoft.com/office/powerpoint/2010/main" val="37654323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331076"/>
            <a:ext cx="8412480" cy="740978"/>
          </a:xfrm>
          <a:prstGeom prst="rect">
            <a:avLst/>
          </a:prstGeom>
          <a:noFill/>
          <a:ln/>
        </p:spPr>
        <p:txBody>
          <a:bodyPr wrap="square" rtlCol="0" anchor="ctr"/>
          <a:lstStyle/>
          <a:p>
            <a:pPr marL="0" indent="0">
              <a:buNone/>
            </a:pPr>
            <a:r>
              <a:rPr lang="en-US" sz="2800" b="1" u="sng" dirty="0">
                <a:solidFill>
                  <a:srgbClr val="000000"/>
                </a:solidFill>
                <a:latin typeface="Times New Roman" panose="02020603050405020304" pitchFamily="18" charset="0"/>
                <a:ea typeface="Calibri" pitchFamily="34" charset="-122"/>
                <a:cs typeface="Times New Roman" panose="02020603050405020304" pitchFamily="18" charset="0"/>
              </a:rPr>
              <a:t>CONCLUSION</a:t>
            </a:r>
            <a:endParaRPr lang="en-US" sz="2800" dirty="0">
              <a:latin typeface="Times New Roman" panose="02020603050405020304" pitchFamily="18" charset="0"/>
              <a:cs typeface="Times New Roman" panose="02020603050405020304" pitchFamily="18" charset="0"/>
            </a:endParaRPr>
          </a:p>
        </p:txBody>
      </p:sp>
      <p:sp>
        <p:nvSpPr>
          <p:cNvPr id="3" name="Text 1"/>
          <p:cNvSpPr/>
          <p:nvPr/>
        </p:nvSpPr>
        <p:spPr>
          <a:xfrm>
            <a:off x="274320" y="4873752"/>
            <a:ext cx="1371600" cy="201168"/>
          </a:xfrm>
          <a:prstGeom prst="rect">
            <a:avLst/>
          </a:prstGeom>
          <a:noFill/>
          <a:ln/>
        </p:spPr>
        <p:txBody>
          <a:bodyPr wrap="square" rtlCol="0" anchor="ctr"/>
          <a:lstStyle/>
          <a:p>
            <a:r>
              <a:rPr lang="en-US" sz="900" dirty="0">
                <a:solidFill>
                  <a:schemeClr val="bg1">
                    <a:lumMod val="50000"/>
                  </a:schemeClr>
                </a:solidFill>
                <a:latin typeface="Calibri" pitchFamily="34" charset="0"/>
                <a:ea typeface="Calibri" pitchFamily="34" charset="-122"/>
                <a:cs typeface="Calibri" pitchFamily="34" charset="-120"/>
              </a:rPr>
              <a:t>11/03/2026</a:t>
            </a:r>
            <a:endParaRPr lang="en-US" sz="900" dirty="0">
              <a:solidFill>
                <a:schemeClr val="bg1">
                  <a:lumMod val="50000"/>
                </a:schemeClr>
              </a:solidFill>
            </a:endParaRPr>
          </a:p>
        </p:txBody>
      </p:sp>
      <p:sp>
        <p:nvSpPr>
          <p:cNvPr id="4" name="Text 2"/>
          <p:cNvSpPr/>
          <p:nvPr/>
        </p:nvSpPr>
        <p:spPr>
          <a:xfrm>
            <a:off x="1828800" y="4873752"/>
            <a:ext cx="5486400" cy="201168"/>
          </a:xfrm>
          <a:prstGeom prst="rect">
            <a:avLst/>
          </a:prstGeom>
          <a:noFill/>
          <a:ln/>
        </p:spPr>
        <p:txBody>
          <a:bodyPr wrap="square" rtlCol="0" anchor="ctr"/>
          <a:lstStyle/>
          <a:p>
            <a:pPr lvl="0" algn="ctr"/>
            <a:r>
              <a:rPr lang="en-US" sz="900" dirty="0">
                <a:solidFill>
                  <a:schemeClr val="bg1">
                    <a:lumMod val="50000"/>
                  </a:schemeClr>
                </a:solidFill>
              </a:rPr>
              <a:t>PCS24PJ41 Project - Second Review Presentation 2025- 2026</a:t>
            </a:r>
          </a:p>
        </p:txBody>
      </p:sp>
      <p:sp>
        <p:nvSpPr>
          <p:cNvPr id="5" name="Text 3"/>
          <p:cNvSpPr/>
          <p:nvPr/>
        </p:nvSpPr>
        <p:spPr>
          <a:xfrm>
            <a:off x="8686800" y="4873752"/>
            <a:ext cx="365760" cy="201168"/>
          </a:xfrm>
          <a:prstGeom prst="rect">
            <a:avLst/>
          </a:prstGeom>
          <a:noFill/>
          <a:ln/>
        </p:spPr>
        <p:txBody>
          <a:bodyPr wrap="square" rtlCol="0" anchor="ctr"/>
          <a:lstStyle/>
          <a:p>
            <a:pPr marL="0" indent="0" algn="r">
              <a:buNone/>
            </a:pPr>
            <a:r>
              <a:rPr lang="en-US" sz="900" dirty="0">
                <a:solidFill>
                  <a:srgbClr val="000000"/>
                </a:solidFill>
                <a:latin typeface="Calibri" pitchFamily="34" charset="0"/>
                <a:ea typeface="Calibri" pitchFamily="34" charset="-122"/>
                <a:cs typeface="Calibri" pitchFamily="34" charset="-120"/>
              </a:rPr>
              <a:t>15</a:t>
            </a:r>
            <a:endParaRPr lang="en-US" sz="900" dirty="0"/>
          </a:p>
        </p:txBody>
      </p:sp>
      <p:sp>
        <p:nvSpPr>
          <p:cNvPr id="6" name="Text 4"/>
          <p:cNvSpPr/>
          <p:nvPr/>
        </p:nvSpPr>
        <p:spPr>
          <a:xfrm>
            <a:off x="457200" y="960120"/>
            <a:ext cx="8229600" cy="3749040"/>
          </a:xfrm>
          <a:prstGeom prst="rect">
            <a:avLst/>
          </a:prstGeom>
          <a:noFill/>
          <a:ln/>
        </p:spPr>
        <p:txBody>
          <a:bodyPr wrap="square" rtlCol="0" anchor="t"/>
          <a:lstStyle/>
          <a:p>
            <a:pPr marL="342900" indent="-342900">
              <a:spcAft>
                <a:spcPts val="9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Cloud computing provides scalable storage but introduces security challenges for data privacy and access control.</a:t>
            </a:r>
            <a:endParaRPr lang="en-US" sz="1400" dirty="0">
              <a:latin typeface="Times New Roman" panose="02020603050405020304" pitchFamily="18" charset="0"/>
              <a:cs typeface="Times New Roman" panose="02020603050405020304" pitchFamily="18" charset="0"/>
            </a:endParaRPr>
          </a:p>
          <a:p>
            <a:pPr marL="342900" indent="-342900">
              <a:spcAft>
                <a:spcPts val="9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The proposed PS-ACS framework achieves trusted virtual machine deployment and domain-based data protection.</a:t>
            </a:r>
            <a:endParaRPr lang="en-US" sz="1400" dirty="0">
              <a:latin typeface="Times New Roman" panose="02020603050405020304" pitchFamily="18" charset="0"/>
              <a:cs typeface="Times New Roman" panose="02020603050405020304" pitchFamily="18" charset="0"/>
            </a:endParaRPr>
          </a:p>
          <a:p>
            <a:pPr marL="342900" indent="-342900">
              <a:spcAft>
                <a:spcPts val="9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File partitioning, encryption, OTP-based authentication, and third-party auditing ensure only authorized users access data.</a:t>
            </a:r>
            <a:endParaRPr lang="en-US" sz="1400" dirty="0">
              <a:latin typeface="Times New Roman" panose="02020603050405020304" pitchFamily="18" charset="0"/>
              <a:cs typeface="Times New Roman" panose="02020603050405020304" pitchFamily="18" charset="0"/>
            </a:endParaRPr>
          </a:p>
          <a:p>
            <a:pPr marL="342900" indent="-342900">
              <a:spcAft>
                <a:spcPts val="9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System design demonstrates secure cloud storage can be achieved without significantly affecting performance.</a:t>
            </a:r>
            <a:endParaRPr lang="en-US" sz="1400" dirty="0">
              <a:latin typeface="Times New Roman" panose="02020603050405020304" pitchFamily="18" charset="0"/>
              <a:cs typeface="Times New Roman" panose="02020603050405020304" pitchFamily="18" charset="0"/>
            </a:endParaRPr>
          </a:p>
          <a:p>
            <a:pPr marL="342900" indent="-342900">
              <a:spcAft>
                <a:spcPts val="9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Proposed protocols showed strong resistance to unauthorized access and data manipulation in all test cases.</a:t>
            </a:r>
            <a:endParaRPr lang="en-US" sz="1400" dirty="0">
              <a:latin typeface="Times New Roman" panose="02020603050405020304" pitchFamily="18" charset="0"/>
              <a:cs typeface="Times New Roman" panose="02020603050405020304" pitchFamily="18" charset="0"/>
            </a:endParaRPr>
          </a:p>
          <a:p>
            <a:pPr marL="342900" indent="-342900">
              <a:spcAft>
                <a:spcPts val="9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Performance analysis shows that security mechanisms introduce only minimal overhead to the overall system.</a:t>
            </a:r>
            <a:endParaRPr lang="en-US" sz="1400" dirty="0">
              <a:latin typeface="Times New Roman" panose="02020603050405020304" pitchFamily="18" charset="0"/>
              <a:cs typeface="Times New Roman" panose="02020603050405020304" pitchFamily="18" charset="0"/>
            </a:endParaRPr>
          </a:p>
          <a:p>
            <a:pPr marL="342900" indent="-342900">
              <a:spcAft>
                <a:spcPts val="9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The framework provides an effective solution for privacy protection and secure access control in cloud-based services.</a:t>
            </a:r>
            <a:endParaRPr lang="en-US" sz="1400" dirty="0">
              <a:latin typeface="Times New Roman" panose="02020603050405020304" pitchFamily="18" charset="0"/>
              <a:cs typeface="Times New Roman" panose="02020603050405020304" pitchFamily="18" charset="0"/>
            </a:endParaRPr>
          </a:p>
        </p:txBody>
      </p:sp>
      <p:pic>
        <p:nvPicPr>
          <p:cNvPr id="7" name="Google Shape;95;p1" descr="Thiagarajar College (@ThiagarajarArts) | Twitter"/>
          <p:cNvPicPr preferRelativeResize="0"/>
          <p:nvPr/>
        </p:nvPicPr>
        <p:blipFill rotWithShape="1">
          <a:blip r:embed="rId3">
            <a:alphaModFix/>
          </a:blip>
          <a:srcRect/>
          <a:stretch/>
        </p:blipFill>
        <p:spPr>
          <a:xfrm>
            <a:off x="4122682" y="68580"/>
            <a:ext cx="512379" cy="420151"/>
          </a:xfrm>
          <a:prstGeom prst="rect">
            <a:avLst/>
          </a:prstGeom>
          <a:noFill/>
          <a:ln>
            <a:noFill/>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28599"/>
            <a:ext cx="8412480" cy="969579"/>
          </a:xfrm>
          <a:prstGeom prst="rect">
            <a:avLst/>
          </a:prstGeom>
          <a:noFill/>
          <a:ln/>
        </p:spPr>
        <p:txBody>
          <a:bodyPr wrap="square" rtlCol="0" anchor="ctr"/>
          <a:lstStyle/>
          <a:p>
            <a:pPr marL="0" indent="0">
              <a:buNone/>
            </a:pPr>
            <a:r>
              <a:rPr lang="en-US" sz="2800" b="1" u="sng" dirty="0">
                <a:solidFill>
                  <a:srgbClr val="000000"/>
                </a:solidFill>
                <a:latin typeface="Times New Roman" panose="02020603050405020304" pitchFamily="18" charset="0"/>
                <a:ea typeface="Calibri" pitchFamily="34" charset="-122"/>
                <a:cs typeface="Times New Roman" panose="02020603050405020304" pitchFamily="18" charset="0"/>
              </a:rPr>
              <a:t>FUTURE ENHANCEMENT</a:t>
            </a:r>
            <a:endParaRPr lang="en-US" sz="2800" dirty="0">
              <a:latin typeface="Times New Roman" panose="02020603050405020304" pitchFamily="18" charset="0"/>
              <a:cs typeface="Times New Roman" panose="02020603050405020304" pitchFamily="18" charset="0"/>
            </a:endParaRPr>
          </a:p>
        </p:txBody>
      </p:sp>
      <p:sp>
        <p:nvSpPr>
          <p:cNvPr id="3" name="Text 1"/>
          <p:cNvSpPr/>
          <p:nvPr/>
        </p:nvSpPr>
        <p:spPr>
          <a:xfrm>
            <a:off x="283779" y="4873752"/>
            <a:ext cx="1453581" cy="201168"/>
          </a:xfrm>
          <a:prstGeom prst="rect">
            <a:avLst/>
          </a:prstGeom>
          <a:noFill/>
          <a:ln/>
        </p:spPr>
        <p:txBody>
          <a:bodyPr wrap="square" rtlCol="0" anchor="ctr"/>
          <a:lstStyle/>
          <a:p>
            <a:r>
              <a:rPr lang="en-US" sz="900" dirty="0">
                <a:solidFill>
                  <a:schemeClr val="bg1">
                    <a:lumMod val="50000"/>
                  </a:schemeClr>
                </a:solidFill>
                <a:latin typeface="Calibri" pitchFamily="34" charset="0"/>
                <a:ea typeface="Calibri" pitchFamily="34" charset="-122"/>
                <a:cs typeface="Calibri" pitchFamily="34" charset="-120"/>
              </a:rPr>
              <a:t>11/03/2026</a:t>
            </a:r>
            <a:endParaRPr lang="en-US" sz="900" dirty="0">
              <a:solidFill>
                <a:schemeClr val="bg1">
                  <a:lumMod val="50000"/>
                </a:schemeClr>
              </a:solidFill>
            </a:endParaRPr>
          </a:p>
        </p:txBody>
      </p:sp>
      <p:sp>
        <p:nvSpPr>
          <p:cNvPr id="4" name="Text 2"/>
          <p:cNvSpPr/>
          <p:nvPr/>
        </p:nvSpPr>
        <p:spPr>
          <a:xfrm>
            <a:off x="1828800" y="4873752"/>
            <a:ext cx="5486400" cy="201168"/>
          </a:xfrm>
          <a:prstGeom prst="rect">
            <a:avLst/>
          </a:prstGeom>
          <a:noFill/>
          <a:ln/>
        </p:spPr>
        <p:txBody>
          <a:bodyPr wrap="square" rtlCol="0" anchor="ctr"/>
          <a:lstStyle/>
          <a:p>
            <a:pPr lvl="0" algn="ctr"/>
            <a:r>
              <a:rPr lang="en-US" sz="900" dirty="0">
                <a:solidFill>
                  <a:schemeClr val="bg1">
                    <a:lumMod val="50000"/>
                  </a:schemeClr>
                </a:solidFill>
              </a:rPr>
              <a:t>PCS24PJ41 Project - Second Review Presentation 2025- 2026</a:t>
            </a:r>
          </a:p>
        </p:txBody>
      </p:sp>
      <p:sp>
        <p:nvSpPr>
          <p:cNvPr id="5" name="Text 3"/>
          <p:cNvSpPr/>
          <p:nvPr/>
        </p:nvSpPr>
        <p:spPr>
          <a:xfrm>
            <a:off x="8686800" y="4873752"/>
            <a:ext cx="365760" cy="201168"/>
          </a:xfrm>
          <a:prstGeom prst="rect">
            <a:avLst/>
          </a:prstGeom>
          <a:noFill/>
          <a:ln/>
        </p:spPr>
        <p:txBody>
          <a:bodyPr wrap="square" rtlCol="0" anchor="ctr"/>
          <a:lstStyle/>
          <a:p>
            <a:pPr marL="0" indent="0" algn="r">
              <a:buNone/>
            </a:pPr>
            <a:r>
              <a:rPr lang="en-US" sz="900" dirty="0">
                <a:solidFill>
                  <a:srgbClr val="000000"/>
                </a:solidFill>
                <a:latin typeface="Calibri" pitchFamily="34" charset="0"/>
                <a:ea typeface="Calibri" pitchFamily="34" charset="-122"/>
                <a:cs typeface="Calibri" pitchFamily="34" charset="-120"/>
              </a:rPr>
              <a:t>16</a:t>
            </a:r>
            <a:endParaRPr lang="en-US" sz="900" dirty="0"/>
          </a:p>
        </p:txBody>
      </p:sp>
      <p:sp>
        <p:nvSpPr>
          <p:cNvPr id="6" name="Text 4"/>
          <p:cNvSpPr/>
          <p:nvPr/>
        </p:nvSpPr>
        <p:spPr>
          <a:xfrm>
            <a:off x="457200" y="1079938"/>
            <a:ext cx="8229600" cy="3704896"/>
          </a:xfrm>
          <a:prstGeom prst="rect">
            <a:avLst/>
          </a:prstGeom>
          <a:noFill/>
          <a:ln/>
        </p:spPr>
        <p:txBody>
          <a:bodyPr wrap="square" rtlCol="0" anchor="t"/>
          <a:lstStyle/>
          <a:p>
            <a:pPr marL="342900" indent="-342900">
              <a:spcAft>
                <a:spcPts val="9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Improve trust mechanisms used in cloud network communications for secure data transmission.</a:t>
            </a:r>
            <a:endParaRPr lang="en-US" sz="1400" dirty="0">
              <a:latin typeface="Times New Roman" panose="02020603050405020304" pitchFamily="18" charset="0"/>
              <a:cs typeface="Times New Roman" panose="02020603050405020304" pitchFamily="18" charset="0"/>
            </a:endParaRPr>
          </a:p>
          <a:p>
            <a:pPr marL="342900" indent="-342900">
              <a:spcAft>
                <a:spcPts val="9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Implement data geolocation and regulatory compliance to store sensitive data in specific geographic regions.</a:t>
            </a:r>
            <a:endParaRPr lang="en-US" sz="1400" dirty="0">
              <a:latin typeface="Times New Roman" panose="02020603050405020304" pitchFamily="18" charset="0"/>
              <a:cs typeface="Times New Roman" panose="02020603050405020304" pitchFamily="18" charset="0"/>
            </a:endParaRPr>
          </a:p>
          <a:p>
            <a:pPr marL="342900" indent="-342900">
              <a:spcAft>
                <a:spcPts val="9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Searchable encryption will allow users to query encrypted cloud data without decrypting it.</a:t>
            </a:r>
            <a:endParaRPr lang="en-US" sz="1400" dirty="0">
              <a:latin typeface="Times New Roman" panose="02020603050405020304" pitchFamily="18" charset="0"/>
              <a:cs typeface="Times New Roman" panose="02020603050405020304" pitchFamily="18" charset="0"/>
            </a:endParaRPr>
          </a:p>
          <a:p>
            <a:pPr marL="342900" indent="-342900">
              <a:spcAft>
                <a:spcPts val="9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Blockchain technology can be integrated for transaction transparency and immutable audit trails.</a:t>
            </a:r>
            <a:endParaRPr lang="en-US" sz="1400" dirty="0">
              <a:latin typeface="Times New Roman" panose="02020603050405020304" pitchFamily="18" charset="0"/>
              <a:cs typeface="Times New Roman" panose="02020603050405020304" pitchFamily="18" charset="0"/>
            </a:endParaRPr>
          </a:p>
          <a:p>
            <a:pPr marL="342900" indent="-342900">
              <a:spcAft>
                <a:spcPts val="9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AI-based anomaly detection can identify suspicious access patterns and prevent security threats.</a:t>
            </a:r>
            <a:endParaRPr lang="en-US" sz="1400" dirty="0">
              <a:latin typeface="Times New Roman" panose="02020603050405020304" pitchFamily="18" charset="0"/>
              <a:cs typeface="Times New Roman" panose="02020603050405020304" pitchFamily="18" charset="0"/>
            </a:endParaRPr>
          </a:p>
          <a:p>
            <a:pPr marL="342900" indent="-342900">
              <a:spcAft>
                <a:spcPts val="9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Mobile application support for secure file upload, access requests, and OTP verification on mobile devices.</a:t>
            </a:r>
            <a:endParaRPr lang="en-US" sz="1400" dirty="0">
              <a:latin typeface="Times New Roman" panose="02020603050405020304" pitchFamily="18" charset="0"/>
              <a:cs typeface="Times New Roman" panose="02020603050405020304" pitchFamily="18" charset="0"/>
            </a:endParaRPr>
          </a:p>
          <a:p>
            <a:pPr marL="342900" indent="-342900">
              <a:spcAft>
                <a:spcPts val="9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With further improvements, the framework can be integrated into real-world cloud platforms</a:t>
            </a:r>
            <a:r>
              <a:rPr lang="en-US" sz="1400" dirty="0">
                <a:solidFill>
                  <a:srgbClr val="000000"/>
                </a:solidFill>
                <a:latin typeface="Calibri" pitchFamily="34" charset="0"/>
                <a:ea typeface="Calibri" pitchFamily="34" charset="-122"/>
                <a:cs typeface="Calibri" pitchFamily="34" charset="-120"/>
              </a:rPr>
              <a:t>.</a:t>
            </a:r>
            <a:endParaRPr lang="en-US" sz="1400" dirty="0"/>
          </a:p>
        </p:txBody>
      </p:sp>
      <p:pic>
        <p:nvPicPr>
          <p:cNvPr id="7" name="Google Shape;95;p1" descr="Thiagarajar College (@ThiagarajarArts) | Twitter"/>
          <p:cNvPicPr preferRelativeResize="0"/>
          <p:nvPr/>
        </p:nvPicPr>
        <p:blipFill rotWithShape="1">
          <a:blip r:embed="rId3">
            <a:alphaModFix/>
          </a:blip>
          <a:srcRect/>
          <a:stretch/>
        </p:blipFill>
        <p:spPr>
          <a:xfrm>
            <a:off x="4122682" y="68580"/>
            <a:ext cx="512379" cy="420151"/>
          </a:xfrm>
          <a:prstGeom prst="rect">
            <a:avLst/>
          </a:prstGeom>
          <a:noFill/>
          <a:ln>
            <a:noFill/>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371600"/>
            <a:ext cx="8229600" cy="2286000"/>
          </a:xfrm>
          <a:prstGeom prst="rect">
            <a:avLst/>
          </a:prstGeom>
          <a:noFill/>
          <a:ln/>
        </p:spPr>
        <p:txBody>
          <a:bodyPr wrap="square" rtlCol="0" anchor="ctr"/>
          <a:lstStyle/>
          <a:p>
            <a:pPr marL="0" indent="0" algn="ctr">
              <a:buNone/>
            </a:pPr>
            <a:r>
              <a:rPr lang="en-US" sz="6400" b="1" dirty="0">
                <a:solidFill>
                  <a:srgbClr val="000000"/>
                </a:solidFill>
                <a:latin typeface="Times New Roman" panose="02020603050405020304" pitchFamily="18" charset="0"/>
                <a:ea typeface="Calibri" pitchFamily="34" charset="-122"/>
                <a:cs typeface="Times New Roman" panose="02020603050405020304" pitchFamily="18" charset="0"/>
              </a:rPr>
              <a:t>Thank You !</a:t>
            </a:r>
            <a:endParaRPr lang="en-US" sz="6400" dirty="0">
              <a:latin typeface="Times New Roman" panose="02020603050405020304" pitchFamily="18" charset="0"/>
              <a:cs typeface="Times New Roman" panose="02020603050405020304" pitchFamily="18" charset="0"/>
            </a:endParaRPr>
          </a:p>
        </p:txBody>
      </p:sp>
      <p:sp>
        <p:nvSpPr>
          <p:cNvPr id="3" name="Text 1"/>
          <p:cNvSpPr/>
          <p:nvPr/>
        </p:nvSpPr>
        <p:spPr>
          <a:xfrm>
            <a:off x="457200" y="3840480"/>
            <a:ext cx="8229600" cy="274320"/>
          </a:xfrm>
          <a:prstGeom prst="rect">
            <a:avLst/>
          </a:prstGeom>
          <a:noFill/>
          <a:ln/>
        </p:spPr>
        <p:txBody>
          <a:bodyPr wrap="square" rtlCol="0" anchor="ctr"/>
          <a:lstStyle/>
          <a:p>
            <a:pPr marL="0" indent="0" algn="ctr">
              <a:buNone/>
            </a:pPr>
            <a:r>
              <a:rPr lang="en-US" sz="1200" b="1" dirty="0">
                <a:solidFill>
                  <a:srgbClr val="000000"/>
                </a:solidFill>
                <a:latin typeface="Times New Roman" panose="02020603050405020304" pitchFamily="18" charset="0"/>
                <a:ea typeface="Calibri" pitchFamily="34" charset="-122"/>
                <a:cs typeface="Times New Roman" panose="02020603050405020304" pitchFamily="18" charset="0"/>
              </a:rPr>
              <a:t>THIAGARAJAR COLLEGE (AUTONOMOUS), MADURAI</a:t>
            </a:r>
            <a:endParaRPr lang="en-US" sz="1200" dirty="0">
              <a:latin typeface="Times New Roman" panose="02020603050405020304" pitchFamily="18" charset="0"/>
              <a:cs typeface="Times New Roman" panose="02020603050405020304" pitchFamily="18" charset="0"/>
            </a:endParaRPr>
          </a:p>
        </p:txBody>
      </p:sp>
      <p:sp>
        <p:nvSpPr>
          <p:cNvPr id="4" name="Text 2"/>
          <p:cNvSpPr/>
          <p:nvPr/>
        </p:nvSpPr>
        <p:spPr>
          <a:xfrm>
            <a:off x="457200" y="4160520"/>
            <a:ext cx="8229600" cy="256032"/>
          </a:xfrm>
          <a:prstGeom prst="rect">
            <a:avLst/>
          </a:prstGeom>
          <a:noFill/>
          <a:ln/>
        </p:spPr>
        <p:txBody>
          <a:bodyPr wrap="square" rtlCol="0" anchor="ctr"/>
          <a:lstStyle/>
          <a:p>
            <a:pPr marL="0" indent="0" algn="ctr">
              <a:buNone/>
            </a:pP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Department of Computer Science | PCS20PJ41 </a:t>
            </a:r>
            <a:r>
              <a:rPr lang="en-US" sz="1100" dirty="0" smtClean="0">
                <a:solidFill>
                  <a:srgbClr val="000000"/>
                </a:solidFill>
                <a:latin typeface="Times New Roman" panose="02020603050405020304" pitchFamily="18" charset="0"/>
                <a:ea typeface="Calibri" pitchFamily="34" charset="-122"/>
                <a:cs typeface="Times New Roman" panose="02020603050405020304" pitchFamily="18" charset="0"/>
              </a:rPr>
              <a:t>– Second Review </a:t>
            </a:r>
            <a:r>
              <a:rPr lang="en-US" sz="1100" dirty="0">
                <a:solidFill>
                  <a:srgbClr val="000000"/>
                </a:solidFill>
                <a:latin typeface="Times New Roman" panose="02020603050405020304" pitchFamily="18" charset="0"/>
                <a:ea typeface="Calibri" pitchFamily="34" charset="-122"/>
                <a:cs typeface="Times New Roman" panose="02020603050405020304" pitchFamily="18" charset="0"/>
              </a:rPr>
              <a:t>2025-2026</a:t>
            </a:r>
            <a:endParaRPr lang="en-US" sz="1100" dirty="0">
              <a:latin typeface="Times New Roman" panose="02020603050405020304" pitchFamily="18" charset="0"/>
              <a:cs typeface="Times New Roman" panose="02020603050405020304" pitchFamily="18" charset="0"/>
            </a:endParaRPr>
          </a:p>
        </p:txBody>
      </p:sp>
      <p:sp>
        <p:nvSpPr>
          <p:cNvPr id="5" name="Text 3"/>
          <p:cNvSpPr/>
          <p:nvPr/>
        </p:nvSpPr>
        <p:spPr>
          <a:xfrm>
            <a:off x="274320" y="4873752"/>
            <a:ext cx="1371600" cy="201168"/>
          </a:xfrm>
          <a:prstGeom prst="rect">
            <a:avLst/>
          </a:prstGeom>
          <a:noFill/>
          <a:ln/>
        </p:spPr>
        <p:txBody>
          <a:bodyPr wrap="square" rtlCol="0" anchor="ctr"/>
          <a:lstStyle/>
          <a:p>
            <a:r>
              <a:rPr lang="en-US" sz="900" dirty="0">
                <a:solidFill>
                  <a:schemeClr val="bg1">
                    <a:lumMod val="50000"/>
                  </a:schemeClr>
                </a:solidFill>
                <a:latin typeface="Calibri" pitchFamily="34" charset="0"/>
                <a:ea typeface="Calibri" pitchFamily="34" charset="-122"/>
                <a:cs typeface="Calibri" pitchFamily="34" charset="-120"/>
              </a:rPr>
              <a:t>11/03/2026</a:t>
            </a:r>
            <a:endParaRPr lang="en-US" sz="900" dirty="0">
              <a:solidFill>
                <a:schemeClr val="bg1">
                  <a:lumMod val="50000"/>
                </a:schemeClr>
              </a:solidFill>
            </a:endParaRPr>
          </a:p>
        </p:txBody>
      </p:sp>
      <p:sp>
        <p:nvSpPr>
          <p:cNvPr id="6" name="Text 4"/>
          <p:cNvSpPr/>
          <p:nvPr/>
        </p:nvSpPr>
        <p:spPr>
          <a:xfrm>
            <a:off x="1828800" y="4873752"/>
            <a:ext cx="5486400" cy="201168"/>
          </a:xfrm>
          <a:prstGeom prst="rect">
            <a:avLst/>
          </a:prstGeom>
          <a:noFill/>
          <a:ln/>
        </p:spPr>
        <p:txBody>
          <a:bodyPr wrap="square" rtlCol="0" anchor="ctr"/>
          <a:lstStyle/>
          <a:p>
            <a:pPr lvl="0" algn="ctr"/>
            <a:r>
              <a:rPr lang="en-US" sz="900" dirty="0">
                <a:solidFill>
                  <a:schemeClr val="bg1">
                    <a:lumMod val="50000"/>
                  </a:schemeClr>
                </a:solidFill>
              </a:rPr>
              <a:t>PCS24PJ41 Project - Second Review Presentation 2025- 2026</a:t>
            </a:r>
          </a:p>
        </p:txBody>
      </p:sp>
      <p:sp>
        <p:nvSpPr>
          <p:cNvPr id="7" name="Text 5"/>
          <p:cNvSpPr/>
          <p:nvPr/>
        </p:nvSpPr>
        <p:spPr>
          <a:xfrm>
            <a:off x="8686800" y="4873752"/>
            <a:ext cx="365760" cy="201168"/>
          </a:xfrm>
          <a:prstGeom prst="rect">
            <a:avLst/>
          </a:prstGeom>
          <a:noFill/>
          <a:ln/>
        </p:spPr>
        <p:txBody>
          <a:bodyPr wrap="square" rtlCol="0" anchor="ctr"/>
          <a:lstStyle/>
          <a:p>
            <a:pPr marL="0" indent="0" algn="r">
              <a:buNone/>
            </a:pPr>
            <a:r>
              <a:rPr lang="en-US" sz="900" dirty="0">
                <a:solidFill>
                  <a:srgbClr val="000000"/>
                </a:solidFill>
                <a:latin typeface="Calibri" pitchFamily="34" charset="0"/>
                <a:ea typeface="Calibri" pitchFamily="34" charset="-122"/>
                <a:cs typeface="Calibri" pitchFamily="34" charset="-120"/>
              </a:rPr>
              <a:t>17</a:t>
            </a:r>
            <a:endParaRPr lang="en-US" sz="900" dirty="0"/>
          </a:p>
        </p:txBody>
      </p:sp>
      <p:pic>
        <p:nvPicPr>
          <p:cNvPr id="8" name="Google Shape;95;p1" descr="Thiagarajar College (@ThiagarajarArts) | Twitter"/>
          <p:cNvPicPr preferRelativeResize="0"/>
          <p:nvPr/>
        </p:nvPicPr>
        <p:blipFill rotWithShape="1">
          <a:blip r:embed="rId3">
            <a:alphaModFix/>
          </a:blip>
          <a:srcRect/>
          <a:stretch/>
        </p:blipFill>
        <p:spPr>
          <a:xfrm>
            <a:off x="4122682" y="68580"/>
            <a:ext cx="512379" cy="420151"/>
          </a:xfrm>
          <a:prstGeom prst="rect">
            <a:avLst/>
          </a:prstGeom>
          <a:noFill/>
          <a:ln>
            <a:noFill/>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TotalTime>
  <Words>1810</Words>
  <Application>Microsoft Office PowerPoint</Application>
  <PresentationFormat>On-screen Show (16:9)</PresentationFormat>
  <Paragraphs>251</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Microsoft account</cp:lastModifiedBy>
  <cp:revision>13</cp:revision>
  <dcterms:created xsi:type="dcterms:W3CDTF">2026-03-12T15:00:43Z</dcterms:created>
  <dcterms:modified xsi:type="dcterms:W3CDTF">2026-03-13T13:37:31Z</dcterms:modified>
</cp:coreProperties>
</file>